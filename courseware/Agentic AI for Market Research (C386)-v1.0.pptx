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6" r:id="rId17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7" r:id="rId229"/>
    <p:sldId id="479" r:id="rId2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7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Relationship Id="rId164" Type="http://schemas.openxmlformats.org/officeDocument/2006/relationships/slide" Target="slides/slide151.xml"/><Relationship Id="rId165" Type="http://schemas.openxmlformats.org/officeDocument/2006/relationships/slide" Target="slides/slide152.xml"/><Relationship Id="rId166" Type="http://schemas.openxmlformats.org/officeDocument/2006/relationships/slide" Target="slides/slide153.xml"/><Relationship Id="rId167" Type="http://schemas.openxmlformats.org/officeDocument/2006/relationships/slide" Target="slides/slide154.xml"/><Relationship Id="rId168" Type="http://schemas.openxmlformats.org/officeDocument/2006/relationships/slide" Target="slides/slide155.xml"/><Relationship Id="rId169" Type="http://schemas.openxmlformats.org/officeDocument/2006/relationships/slide" Target="slides/slide156.xml"/><Relationship Id="rId170" Type="http://schemas.openxmlformats.org/officeDocument/2006/relationships/slide" Target="slides/slide157.xml"/><Relationship Id="rId171" Type="http://schemas.openxmlformats.org/officeDocument/2006/relationships/slide" Target="slides/slide158.xml"/><Relationship Id="rId172" Type="http://schemas.openxmlformats.org/officeDocument/2006/relationships/slide" Target="slides/slide159.xml"/><Relationship Id="rId173" Type="http://schemas.openxmlformats.org/officeDocument/2006/relationships/slide" Target="slides/slide160.xml"/><Relationship Id="rId174" Type="http://schemas.openxmlformats.org/officeDocument/2006/relationships/slide" Target="slides/slide161.xml"/><Relationship Id="rId175" Type="http://schemas.openxmlformats.org/officeDocument/2006/relationships/slide" Target="slides/slide162.xml"/><Relationship Id="rId176" Type="http://schemas.openxmlformats.org/officeDocument/2006/relationships/slide" Target="slides/slide163.xml"/><Relationship Id="rId177" Type="http://schemas.openxmlformats.org/officeDocument/2006/relationships/slide" Target="slides/slide164.xml"/><Relationship Id="rId178" Type="http://schemas.openxmlformats.org/officeDocument/2006/relationships/slide" Target="slides/slide165.xml"/><Relationship Id="rId179" Type="http://schemas.openxmlformats.org/officeDocument/2006/relationships/slide" Target="slides/slide166.xml"/><Relationship Id="rId180" Type="http://schemas.openxmlformats.org/officeDocument/2006/relationships/slide" Target="slides/slide167.xml"/><Relationship Id="rId181" Type="http://schemas.openxmlformats.org/officeDocument/2006/relationships/slide" Target="slides/slide168.xml"/><Relationship Id="rId182" Type="http://schemas.openxmlformats.org/officeDocument/2006/relationships/slide" Target="slides/slide169.xml"/><Relationship Id="rId183" Type="http://schemas.openxmlformats.org/officeDocument/2006/relationships/slide" Target="slides/slide170.xml"/><Relationship Id="rId184" Type="http://schemas.openxmlformats.org/officeDocument/2006/relationships/slide" Target="slides/slide171.xml"/><Relationship Id="rId185" Type="http://schemas.openxmlformats.org/officeDocument/2006/relationships/slide" Target="slides/slide172.xml"/><Relationship Id="rId186" Type="http://schemas.openxmlformats.org/officeDocument/2006/relationships/slide" Target="slides/slide173.xml"/><Relationship Id="rId187" Type="http://schemas.openxmlformats.org/officeDocument/2006/relationships/slide" Target="slides/slide174.xml"/><Relationship Id="rId188" Type="http://schemas.openxmlformats.org/officeDocument/2006/relationships/slide" Target="slides/slide175.xml"/><Relationship Id="rId189" Type="http://schemas.openxmlformats.org/officeDocument/2006/relationships/slide" Target="slides/slide176.xml"/><Relationship Id="rId190" Type="http://schemas.openxmlformats.org/officeDocument/2006/relationships/slide" Target="slides/slide177.xml"/><Relationship Id="rId191" Type="http://schemas.openxmlformats.org/officeDocument/2006/relationships/slide" Target="slides/slide178.xml"/><Relationship Id="rId192" Type="http://schemas.openxmlformats.org/officeDocument/2006/relationships/slide" Target="slides/slide179.xml"/><Relationship Id="rId193" Type="http://schemas.openxmlformats.org/officeDocument/2006/relationships/slide" Target="slides/slide180.xml"/><Relationship Id="rId194" Type="http://schemas.openxmlformats.org/officeDocument/2006/relationships/slide" Target="slides/slide181.xml"/><Relationship Id="rId195" Type="http://schemas.openxmlformats.org/officeDocument/2006/relationships/slide" Target="slides/slide182.xml"/><Relationship Id="rId196" Type="http://schemas.openxmlformats.org/officeDocument/2006/relationships/slide" Target="slides/slide183.xml"/><Relationship Id="rId197" Type="http://schemas.openxmlformats.org/officeDocument/2006/relationships/slide" Target="slides/slide184.xml"/><Relationship Id="rId198" Type="http://schemas.openxmlformats.org/officeDocument/2006/relationships/slide" Target="slides/slide185.xml"/><Relationship Id="rId199" Type="http://schemas.openxmlformats.org/officeDocument/2006/relationships/slide" Target="slides/slide186.xml"/><Relationship Id="rId200" Type="http://schemas.openxmlformats.org/officeDocument/2006/relationships/slide" Target="slides/slide187.xml"/><Relationship Id="rId201" Type="http://schemas.openxmlformats.org/officeDocument/2006/relationships/slide" Target="slides/slide188.xml"/><Relationship Id="rId202" Type="http://schemas.openxmlformats.org/officeDocument/2006/relationships/slide" Target="slides/slide189.xml"/><Relationship Id="rId203" Type="http://schemas.openxmlformats.org/officeDocument/2006/relationships/slide" Target="slides/slide190.xml"/><Relationship Id="rId204" Type="http://schemas.openxmlformats.org/officeDocument/2006/relationships/slide" Target="slides/slide191.xml"/><Relationship Id="rId205" Type="http://schemas.openxmlformats.org/officeDocument/2006/relationships/slide" Target="slides/slide192.xml"/><Relationship Id="rId206" Type="http://schemas.openxmlformats.org/officeDocument/2006/relationships/slide" Target="slides/slide193.xml"/><Relationship Id="rId207" Type="http://schemas.openxmlformats.org/officeDocument/2006/relationships/slide" Target="slides/slide194.xml"/><Relationship Id="rId208" Type="http://schemas.openxmlformats.org/officeDocument/2006/relationships/slide" Target="slides/slide195.xml"/><Relationship Id="rId209" Type="http://schemas.openxmlformats.org/officeDocument/2006/relationships/slide" Target="slides/slide196.xml"/><Relationship Id="rId210" Type="http://schemas.openxmlformats.org/officeDocument/2006/relationships/slide" Target="slides/slide197.xml"/><Relationship Id="rId211" Type="http://schemas.openxmlformats.org/officeDocument/2006/relationships/slide" Target="slides/slide198.xml"/><Relationship Id="rId212" Type="http://schemas.openxmlformats.org/officeDocument/2006/relationships/slide" Target="slides/slide199.xml"/><Relationship Id="rId213" Type="http://schemas.openxmlformats.org/officeDocument/2006/relationships/slide" Target="slides/slide200.xml"/><Relationship Id="rId214" Type="http://schemas.openxmlformats.org/officeDocument/2006/relationships/slide" Target="slides/slide201.xml"/><Relationship Id="rId215" Type="http://schemas.openxmlformats.org/officeDocument/2006/relationships/slide" Target="slides/slide202.xml"/><Relationship Id="rId216" Type="http://schemas.openxmlformats.org/officeDocument/2006/relationships/slide" Target="slides/slide203.xml"/><Relationship Id="rId217" Type="http://schemas.openxmlformats.org/officeDocument/2006/relationships/slide" Target="slides/slide204.xml"/><Relationship Id="rId218" Type="http://schemas.openxmlformats.org/officeDocument/2006/relationships/slide" Target="slides/slide205.xml"/><Relationship Id="rId219" Type="http://schemas.openxmlformats.org/officeDocument/2006/relationships/slide" Target="slides/slide206.xml"/><Relationship Id="rId220" Type="http://schemas.openxmlformats.org/officeDocument/2006/relationships/slide" Target="slides/slide207.xml"/><Relationship Id="rId221" Type="http://schemas.openxmlformats.org/officeDocument/2006/relationships/slide" Target="slides/slide208.xml"/><Relationship Id="rId222" Type="http://schemas.openxmlformats.org/officeDocument/2006/relationships/slide" Target="slides/slide209.xml"/><Relationship Id="rId223" Type="http://schemas.openxmlformats.org/officeDocument/2006/relationships/slide" Target="slides/slide210.xml"/><Relationship Id="rId224" Type="http://schemas.openxmlformats.org/officeDocument/2006/relationships/slide" Target="slides/slide211.xml"/><Relationship Id="rId225" Type="http://schemas.openxmlformats.org/officeDocument/2006/relationships/slide" Target="slides/slide212.xml"/><Relationship Id="rId226" Type="http://schemas.openxmlformats.org/officeDocument/2006/relationships/slide" Target="slides/slide213.xml"/><Relationship Id="rId229" Type="http://schemas.openxmlformats.org/officeDocument/2006/relationships/slide" Target="slides/slide214.xml"/><Relationship Id="rId231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 of each stated population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Survey</c:v>
                </c:pt>
                <c:pt idx="1">
                  <c:v>Enquiries</c:v>
                </c:pt>
                <c:pt idx="2">
                  <c:v>Web events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manifest files / outputs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Read approved</c:v>
                </c:pt>
                <c:pt idx="1">
                  <c:v>Quarantine</c:v>
                </c:pt>
                <c:pt idx="2">
                  <c:v>Write outputs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Advertised tuition (SGD per hour)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Northstar</c:v>
                </c:pt>
                <c:pt idx="1">
                  <c:v>Harbour</c:v>
                </c:pt>
                <c:pt idx="2">
                  <c:v>Orchid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60</c:v>
                </c:pt>
                <c:pt idx="1">
                  <c:v>45</c:v>
                </c:pt>
                <c:pt idx="2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coded review mentions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Timing</c:v>
                </c:pt>
                <c:pt idx="1">
                  <c:v>Relevance</c:v>
                </c:pt>
                <c:pt idx="2">
                  <c:v>Support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(SGD per customer)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Working</c:v>
                </c:pt>
                <c:pt idx="1">
                  <c:v>Career</c:v>
                </c:pt>
                <c:pt idx="2">
                  <c:v>Team leads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300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Unique synthetic sessions per journey stage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Sessions</c:v>
                </c:pt>
                <c:pt idx="1">
                  <c:v>Enquiries</c:v>
                </c:pt>
                <c:pt idx="2">
                  <c:v>Qualified</c:v>
                </c:pt>
                <c:pt idx="3">
                  <c:v>Enrolments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2400</c:v>
                </c:pt>
                <c:pt idx="1">
                  <c:v>96</c:v>
                </c:pt>
                <c:pt idx="2">
                  <c:v>48</c:v>
                </c:pt>
                <c:pt idx="3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planned stage events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Discovery</c:v>
                </c:pt>
                <c:pt idx="1">
                  <c:v>Consideration</c:v>
                </c:pt>
                <c:pt idx="2">
                  <c:v>Intent</c:v>
                </c:pt>
                <c:pt idx="3">
                  <c:v>Revenue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purchase value (SGD)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Duplicate</c:v>
                </c:pt>
                <c:pt idx="2">
                  <c:v>Missing ID</c:v>
                </c:pt>
                <c:pt idx="3">
                  <c:v>Valid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2100</c:v>
                </c:pt>
                <c:pt idx="1">
                  <c:v>600</c:v>
                </c:pt>
                <c:pt idx="2">
                  <c:v>400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touch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1200</c:v>
                </c:pt>
                <c:pt idx="1">
                  <c:v>500</c:v>
                </c:pt>
                <c:pt idx="2">
                  <c:v>700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touch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Paid search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1300</c:v>
                </c:pt>
                <c:pt idx="3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sent email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Enquiry</c:v>
                </c:pt>
                <c:pt idx="1">
                  <c:v>Qualified</c:v>
                </c:pt>
                <c:pt idx="2">
                  <c:v>Past learner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Clicks per search impression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AI course</c:v>
                </c:pt>
                <c:pt idx="1">
                  <c:v>Cowork guide</c:v>
                </c:pt>
                <c:pt idx="2">
                  <c:v>Research training</c:v>
                </c:pt>
                <c:pt idx="3">
                  <c:v>Segmentation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enquiries (count)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80</c:v>
                </c:pt>
                <c:pt idx="1">
                  <c:v>88</c:v>
                </c:pt>
                <c:pt idx="2">
                  <c:v>84</c:v>
                </c:pt>
                <c:pt idx="3">
                  <c:v>96</c:v>
                </c:pt>
                <c:pt idx="4">
                  <c:v>100</c:v>
                </c:pt>
                <c:pt idx="5">
                  <c:v>104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Leads per session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5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after listed spend (SGD)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Paid</c:v>
                </c:pt>
                <c:pt idx="1">
                  <c:v>Organic</c:v>
                </c:pt>
                <c:pt idx="2">
                  <c:v>Email</c:v>
                </c:pt>
                <c:pt idx="3">
                  <c:v>Direct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dataset:activities/activity-01-evidence-registry/mock-data/sources.csv</a:t>
            </a:r>
          </a:p>
          <a:p>
            <a:r>
              <a:t>Reviewed 13 September 2026. Activity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dataset:activities/activity-02-cowork-folder-brief/mock-data/campaign-files.csv</a:t>
            </a:r>
          </a:p>
          <a:p>
            <a:r>
              <a:t>Reviewed 13 September 2026. Activity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dataset:activities/activity-03-competitor-triangulation/mock-data/competitors.csv</a:t>
            </a:r>
          </a:p>
          <a:p>
            <a:r>
              <a:t>Reviewed 13 September 2026. Activity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dataset:activities/activity-04-review-themes-bias/mock-data/reviews.csv</a:t>
            </a:r>
          </a:p>
          <a:p>
            <a:r>
              <a:t>Reviewed 13 September 2026. Activity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dataset:activities/activity-05-segments-customer-value/mock-data/segments.csv</a:t>
            </a:r>
          </a:p>
          <a:p>
            <a:r>
              <a:t>Reviewed 13 September 2026. Activity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dataset:activities/activity-06-journey-funnel-diagnostics/mock-data/funnel.csv</a:t>
            </a:r>
          </a:p>
          <a:p>
            <a:r>
              <a:t>Reviewed 13 September 2026. Activity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dataset:activities/activity-07-ga4-measurement-contract/mock-data/measurement-plan.csv</a:t>
            </a:r>
          </a:p>
          <a:p>
            <a:r>
              <a:t>Reviewed 13 September 2026. Activity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dataset:activities/activity-08-event-quality-deduplication/mock-data/events.csv</a:t>
            </a:r>
          </a:p>
          <a:p>
            <a:r>
              <a:t>Reviewed 13 September 2026. Activity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dataset:activities/activity-09-conversions-attribution-limits/mock-data/touchpoints.csv</a:t>
            </a:r>
          </a:p>
          <a:p>
            <a:r>
              <a:t>Reviewed 13 September 2026. Activity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dataset:activities/activity-10-lifecycle-creative-evidence/mock-data/lifecycle.csv</a:t>
            </a:r>
          </a:p>
          <a:p>
            <a:r>
              <a:t>Reviewed 13 September 2026. Activity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dataset:activities/activity-11-seo-content-experiment/mock-data/search-content.csv</a:t>
            </a:r>
          </a:p>
          <a:p>
            <a:r>
              <a:t>Reviewed 13 September 2026. Activity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dataset:activities/activity-12-bounded-demand-forecast/mock-data/demand.csv</a:t>
            </a:r>
          </a:p>
          <a:p>
            <a:r>
              <a:t>Reviewed 13 September 2026. Activity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https://code.claude.com/docs/en/skills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dataset:activities/activity-13-claude-code-skills-mcp/mock-data/tool-results.csv</a:t>
            </a:r>
          </a:p>
          <a:p>
            <a:r>
              <a:t>Reviewed 13 September 2026. Activity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https://code.claude.com/docs/en/overview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dataset:activities/activity-14-effectiveness-decision-capstone/mock-data/campaigns.csv</a:t>
            </a:r>
          </a:p>
          <a:p>
            <a:r>
              <a:t>Reviewed 13 September 2026. Activity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Authored synthetic research method;supplied Digital Marketing reference and source contracts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https://support.google.com/analytics/answer/9322688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data and artifacts are synthetic. https://business.columbia.edu/insights/digital-future/ai/generative-ai-market-research</a:t>
            </a:r>
          </a:p>
          <a:p>
            <a:r>
              <a:t>Reviewed 13 September 2026. Assessment coverage supplement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7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8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9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12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13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4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notesSlide" Target="../notesSlides/notesSlide16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17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8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6766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AI for Market Research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C386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13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  <p:pic>
        <p:nvPicPr>
          <p:cNvPr id="15" name="Picture 14" descr="market-research-hero-v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103120"/>
            <a:ext cx="342900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532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· 2 days / 15 hours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presents current qualifications and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COURSE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AI, reproducible analytics and marketing research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Research decision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one marketing decision and the evidence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your analytics and AI-tool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Working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Identify permitted training tools and access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Success criterion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Name one inspectable artifact you want to produce.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Participation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Question unsupported claims and preserve other learners’ privacy.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Synthetic data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supplied fictional data; keep real customer information outside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Human approval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Review plans, tool scope and outputs before consequential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Independent work</a:t>
            </a:r>
          </a:p>
          <a:p>
            <a:r>
              <a:rPr sz="1700" b="1">
                <a:latin typeface="Arial"/>
              </a:rPr>
              <a:t>Work through the activities yourself; discuss findings, not finished answers.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· SCHEMATIC BASED ON VERIFIED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Download Course Material · Verified LMS Resource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Courseware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Shared course folder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PDF + learner slides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Trainer Slides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PPTX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Activities /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14activity folders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RESOURCE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lms-tms.tertiaryinfotech.com · C386. Current LMS labels verified13September2026. Resource controls point to role-appropriate files;this is a schematic,not an interface screenshot.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Types and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Singapore learning provider must decide whether to launch an evening AI marketing programme. A search summary is insufficient: each demand claim needs a source, date, population and permission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evidence-register.csv and research-brief.md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Classify primary/secondary and qualitative/quantitative sources; record first-party origin, time window and consent; separate direct observations from interpretations.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source_id;check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72660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7266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source_type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customer_survey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72660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7266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source_type;check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086752"/>
            <a:ext cx="2764962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086752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published_date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086752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2026-08-01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086752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086752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published_date;check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00844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00844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population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existing learners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500844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500844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population;check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14936"/>
            <a:ext cx="2764962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914936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sample_n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914936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914936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914936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sample_n;check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329028"/>
            <a:ext cx="2764962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329028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claim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72 prefer evenings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329028"/>
            <a:ext cx="3934755" cy="4140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329028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claim;check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743120"/>
            <a:ext cx="2764962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743120"/>
            <a:ext cx="2508930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confidence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743120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743120"/>
            <a:ext cx="3934755" cy="41409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743120"/>
            <a:ext cx="3678723" cy="4140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confidence;check units/identity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0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0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8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source_id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existing learners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72 prefer evenings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36 request evening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global marketers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training demand rising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consented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96 enquiry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Evening preference = 72 / 120 = 60%; denominator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surveyed existing learners, not the Singapore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sources.csv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percentages use different populations. Their height cannot establish…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percentages use different populations. Their height cannot establish market size; compare definitions before aggregating.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Percentage (%) of each stated population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with open("mock-data/sources.csv")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len({r["source_id"] for r in rows}) == 4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required = {"population", "published_date"}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required &lt;= set(rows[0])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sources.csv;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source match the decision population?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with stated sampling limits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Qualify the claim or collect primary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source_id: S01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percentages use different populations. Their height cannot establish market size; compare…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the source match the decision population?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with stated sampling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research-brief.md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Qualify the claim or collect primary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 global report is used to claim Singapore buying intent.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Its population and date do not match the decision, so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claim must be downgraded.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uniquely identified sources; each claim states population, period, confidence…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source_id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sources.csv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Evening preference = 72 / 120 = 60%; denominator is surveyed existing learners, not the Singapore market.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global report is used to claim Singapore buying intent. Its population and date do not match the decision…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Qualify the claim or collect primary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evidence-register.csv and research-brief.md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Retain provenance, access permission and citation per claim. Use anonymised exports; never include emails…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Retain provenance, access permission and citation per claim. Use anonymised exports; never include emails, phone numbers or credentials in the research workspace.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evidence-register.csv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Evening preference = 72 / 120 = 60%; denominator is surveyed existing learners, not the Singapore market. Output: evidence-register.csv and research-brief.md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Registry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Four uniquely identified sources; each claim states population, period, confidence and an explicit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marketer receives mixed CSV exports and creative notes. Cowork should turn a bounded folder into a decision brief while leaving original files unchanged and treating embedded instructions as untrusted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input-manifest.csv and decision-brief.md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Cowork Folder Research Brief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campaign-files.csv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 -&gt; bounded plan -&gt; approved file reads -&gt; evidence synthesis -&gt; output diff -&gt; human decision. This is a teaching model of task control, not a fabricated Cowork interface.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file_id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file_id;check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filename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traffic.csv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filename;check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owner;check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period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2026-08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period;check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row_count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row_count;check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approved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status;check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file_id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filename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traffic.csv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campaign.csv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brand-guide.md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external-note.md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untrusted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Coverage = 3 approved inputs / 4 inventoried inputs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75%; an excluded file remains visible in the manifest.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campaign-files.csv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manifest counts distinguish information access from output creation.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manifest counts distinguish information access from output creation. A quarantine decision is evidence, not missing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Count of manifest files / outputs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from pathlib import Path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root = Path("mock-data")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files = list(root.glob("*.csv"))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all(f.suffix == ".csv" for f in files)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output = Path("outputs")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output.mkdir(exist_ok=True)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campaign-files.csv;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Would the action write outside the copied folder?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Pause for human scope review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Proceed within approved outputs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file_id: F01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manifest counts distinguish information access from output creation. A quarantine…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Would the action write outside the copied folder?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Pause for human scope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decision-brief.md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Proceed within approved outputs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An external note tells the agent to upload the folder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elsewhere. It is task data, not an authorised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instruction, and must not change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manifest records; original input hashes unchanged; two requested outputs…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file_id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campaign-files.csv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= 3 approved inputs / 4 inventoried inputs = 75%; an excluded file remains visible in the manifest.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external note tells the agent to upload the folder elsewhere. It is task data, not an authorised…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Proceed within approved outputs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input-manifest.csv and decision-brief.md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Copy inputs, use dedicated output paths, inspect the plan and changed files, reject external sends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Copy inputs, use dedicated output paths, inspect the plan and changed files, reject external sends and deletion. Product availability and permission controls depend on the current account.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campaign-files.csv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file_id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input-manifest.csv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Coverage = 3 approved inputs / 4 inventoried inputs = 75%; an excluded file remains visible in the manifest. Output: input-manifest.csv and decision-brief.md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ACTIVITY 02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Cowork Folder Research Brief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Four manifest records; original input hashes unchanged; two requested outputs; untrusted instruction quoted as data and ignored.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provider compares three fictional competitors. Advertised prices, course hours and learner-review counts must be normalised before Cowork can recommend a positioning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competitor-matrix.csv and positioning-note.md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competitors.csv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Match comparable features, units and retrieval dates; distinguish vendor claim from independent evidence; triangulate one claim with two source types before promoting 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competitor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competitor;check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price_sgd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price_sgd;check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hours;check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review_n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review_n;check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float; example: 4.6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rating;check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claim_id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C01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claim_id;check units/identity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competitor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price_sgd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Northstar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Harbour Academy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720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Orchid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Price per hour: 480/8 = $60; 720/16 = $45; 600/12 = $50.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cheapest total price is not the cheapest hourly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competitors.csv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SGD per hour. Harbour is lowest per hour; its eight reviews provide a…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SGD per hour. Harbour is lowest per hour; its eight reviews provide a smaller evidence base for satisfaction.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Advertised tuition (SGD per hour)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with open("mock-data/competitors.csv")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r["sgd_per_hour"] = round(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float(r["price_sgd"])/float(r["hours"]),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competitors.csv;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units, offer scope and dates comparable?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Rank with evidence-volume caveat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 or mark non-comparable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competitor: Northstar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SGD per hour. Harbour is lowest per hour; its eight reviews provide a smaller evidence…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units, offer scope and dates comparable?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Rank with evidence-volume caveat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positioning-note.md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Normalise or mark non-comparable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Cowork labels Harbour the market leader from a 4.8 rating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based on eight reviews. Rating and evidence volume must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be evaluated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Hourly prices 60,45,50; all three claim IDs cited; at least two uncertainty…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competitor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Northstar Learning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competitors.csv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Price per hour: 480/8 = $60; 720/16 = $45; 600/12 = $50. The cheapest total price is not the cheapest hourly…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Cowork labels Harbour the market leader from a 4.8 rating based on eight reviews. Rating and evidence volume…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Normalise or mark non-comparable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competitor-matrix.csv and positioning-note.md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comparable offer boundaries and source date. Never claim fictional competitors exist. Preserve…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Record comparable offer boundaries and source date. Never claim fictional competitors exist. Preserve unknowns instead of filling gaps with plausible text.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competitors.csv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competitor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competitor-matrix.csv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Price per hour: 480/8 = $60; 720/16 = $45; 600/12 = $50. The cheapest total price is not the cheapest hourly offer. Output: competitor-matrix.csv and positioning-note.md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Competitor Triangulation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Hourly prices 60,45,50; all three claim IDs cited; at least two uncertainty statements; no unsupported leadership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Eight fictional course reviews mention timing, relevance and support. An agent must code textual evidence without inventing customer identities or treating volunteered reviews as a representative survey.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coded-reviews.csv and theme-memo.md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codebook -&gt; quote evidence -&gt; assign theme -&gt; review disagreement -&gt; count -&gt; qualify interpretation. Keep negation and mixed sentiment visible.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review_id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review_id;check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segment;check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Evening timing fits my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text;check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theme_reference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timing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theme_reference;check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theme_reference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Evening timing fits my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0899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620899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Need more relevant marketing examples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620899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620899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relevance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983230"/>
            <a:ext cx="2764962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2983230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2983230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Support answered my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2983230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2983230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45561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345561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Weekend timing is easier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345561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345561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707892"/>
            <a:ext cx="2764962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707892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707892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Relevant exercises helped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3707892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3707892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relevance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070223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070223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Support reply was slow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070223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070223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432554"/>
            <a:ext cx="2764962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4432554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4432554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Evening timing is useful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4432554"/>
            <a:ext cx="3934755" cy="362331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4432554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794885"/>
            <a:ext cx="2764962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794885"/>
            <a:ext cx="2508930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Relevant examples but rushed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6957" y="4794885"/>
            <a:ext cx="3934755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4973" y="4794885"/>
            <a:ext cx="3678723" cy="362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relevance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Timing mentions = 3/8 = 37.5%; relevance = 3/8; support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2/8. These are coded mentions, not sentiment scores or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market prevalence.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coded mentions. Equal theme counts do not imply equal strategic…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coded mentions. Equal theme counts do not imply equal strategic importance; preserve the supporting review IDs.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Count of coded review mentions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from collections import Counter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with open("mock-data/reviews.csv")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counts = Counter(r["theme_reference"] for r in rows)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sum(counts.values()) ==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the theme be traced to explicit wording?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Code with quotation and qualifier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Mark uncertain; human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review_id: R01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coded mentions. Equal theme counts do not imply equal strategic importance; preserve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the theme be traced to explicit wording?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Code with quotation and qualifier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theme-memo.md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Mark uncertain; human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R08 is flattened into positive sentiment although it says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exercises were rushed. Mixed sentiment needs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separate qualifier.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Eight review IDs retained; 3 timing,3 relevance,2 support; R08 mixed qualifier…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review_id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reviews.csv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Timing mentions = 3/8 = 37.5%; relevance = 3/8; support = 2/8. These are coded mentions, not sentiment scores…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R08 is flattened into positive sentiment although it says the exercises were rushed. Mixed sentiment needs 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Mark uncertain; human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coded-reviews.csv and theme-memo.md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short de-identified extracts; maintain row-level auditability; have a human review ambiguous assignments…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short de-identified extracts; maintain row-level auditability; have a human review ambiguous assignments; do not infer protected characteristics.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8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coded-reviews.csv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Timing mentions = 3/8 = 37.5%; relevance = 3/8; support = 2/8. These are coded mentions, not sentiment scores or market prevalence. Output: coded-reviews.csv and theme-memo.md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04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Themes and Bias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Eight review IDs retained; 3 timing,3 relevance,2 support; R08 mixed qualifier; selection-bias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fictional programme has working professionals and career switchers. Behavioural segments should guide research questions and consented messaging, with customer value calculated using explicit margin and retention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segment-value.csv and persona-hypotheses.md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Segments and Customer Value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segments.csv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observable non-sensitive variables, compute group sizes and values, validate distinct needs with evidence, avoid assigning personas beyond available data.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customers;check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24000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revenue_sgd;check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cost_sgd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12000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cost_sgd;check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retention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float; example: 0.7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retention;check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24000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Career switchers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15000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Team leads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Working margin/customer = (24000-12000)/40 = $300. Simple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one-period retained margin estimate = $300 × 0.7 = $210;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not lifetime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segments.csv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contribution margin per customer. Team leads have higher unit margin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contribution margin per customer. Team leads have higher unit margin but only ten customers; validate segment stability.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Contribution margin (SGD per customer)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import csv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with open("mock-data/segments.csv") as f: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rows = list(csv.DictReader(f))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margin = float(r["revenue_sgd"])-float(r["cost_sgd"])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r["margin_per_customer"] = margin/int(r["customers"])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segments.csv;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segment supported by observed variables?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to design validation questions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Treat as untested hypothesis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segment: Working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contribution margin per customer. Team leads have higher unit margin but only ten…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the segment supported by observed variables?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to design validation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persona-hypotheses.md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Treat as untested hypothesis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agent invents an age range and income for each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segment. Neither field exists; the persona must remain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evidence-constrained.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Margins/customer 300,200,500; total customers 80; no invented demographic traits…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Working professionals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segments.csv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Working margin/customer = (24000-12000)/40 = $300. Simple one-period retained margin estimate = $300 × 0.7 =…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invents an age range and income for each segment. Neither field exists; the persona must remain…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Treat as untested hypothesis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segment-value.csv and persona-hypotheses.md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behavioural attributes and minimum group size for reporting; label retention as an assumption; suppress…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behavioural attributes and minimum group size for reporting; label retention as an assumption; suppress identifying small-group combinations.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segment-value.csv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Working margin/customer = (24000-12000)/40 = $300. Simple one-period retained margin estimate = $300 × 0.7 = $210; not lifetime value. Output: segment-value.csv and persona-hypotheses.md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05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Segments and Customer Value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Margins/customer 300,200,500; total customers 80; no invented demographic traits; retained-margin assumptions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synthetic monthly journey moves from landing sessions to enquiry, qualified lead and enrolment. The decision is where to investigate friction, using stage counts with consistent cohort and window definitions.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funnel-analysis.csv and friction-hypotheses.md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Journey and Funnel Diagnostics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funnel.csv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journey-events.csv to validate session-level ordered events in one synthetic cohort and30-day window;derive the aggregate stage counts,then compute conditional and overall rates. Raw aggregate counts alone do not establish a funnel.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stage;check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2400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count;check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cohort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cohort;check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window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30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window;check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cohort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August visitors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enquiry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August visitors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qualified_lead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August visitors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enrolment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August visitors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Session-&gt;enquiry = 96/2400 = 4%; enquiry-&gt;qualified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50%; qualified-&gt;enrolment = 25%; full funnel = 0.5%.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funnel.csv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counts show a large session-to-enquiry drop. It could reflect intent or…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counts show a large session-to-enquiry drop. It could reflect intent or tracking; the chart alone cannot identify the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Unique synthetic sessions per journey stage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Journey and Funnel Diagnostics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counts = [2400, 96, 48, 12]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rates = [b/a for a,b in zip(counts, counts[1:])]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rates == [0.04, 0.5, 0.25]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overall = counts[-1]/counts[0]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overall == 0.005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funnel.csv;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 all stages use the same cohort and window?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Interpret conditional drop-off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Rebuild aligned funnel first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Journey and Funnel Diagnostics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stage: landing_session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counts show a large session-to-enquiry drop. It could reflect intent or tracking; the…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all stages use the same cohort and window?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Interpret conditional drop-off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friction-hypotheses.md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Rebuild aligned funnel first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 month-end enrolment count is divided by a different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month’s enquiries. Time-window mismatch invalidates the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conversion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Row-level journey-events.csv confirms2400 unique sessions,96 enquiries,48 qualified…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Journey and Funnel Diagnostics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stage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landing_session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funnel.csv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Session-&gt;enquiry = 96/2400 = 4%; enquiry-&gt;qualified = 50%; qualified-&gt;enrolment = 25%; full funnel = 0.5%.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month-end enrolment count is divided by a different month’s enquiries. Time-window mismatch invalidates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Rebuild aligned funnel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funnel-analysis.csv and friction-hypotheses.md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entity, cohort, order and window. Investigate consent and event completeness before changing creative…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State entity, cohort, order and window. Investigate consent and event completeness before changing creative. Distinguish correlation from causal diagnosis.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funnel.csv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stage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funnel-analysis.csv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Session-&gt;enquiry = 96/2400 = 4%; enquiry-&gt;qualified = 50%; qualified-&gt;enrolment = 25%; full funnel = 0.5%. Output: funnel-analysis.csv and friction-hypotheses.md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06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Journey and Funnel Diagnostics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Row-level journey-events.csv confirms2400 unique sessions,96 enquiries,48 qualified and12 enrolments;ordered stages share the same session IDs;rates 4%,50%,25%,0.5%;two alternate friction explanations.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marketing team needs GA4-compatible event definitions for course discovery, lead submission and purchase. Cowork can draft the measurement contract, but event collection and consent remain implementation responsibilities.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measurement-contract.csv and consent-notes.md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measurement-plan.csv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 question -&gt; event trigger -&gt; recommended event -&gt; parameter schema -&gt; consent -&gt; validation evidence -&gt; key-event designation. Avoid treating button clicks as successful submissions.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event_name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event_name;check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page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trigger;check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required_parameter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page_location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required_parameter;check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discovery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purpose;check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key_event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key_event;check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event_name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required_parameter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page_view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page 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page_location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generate_lead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successful enquiry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purchase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confirmed payment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transaction_id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view_item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course detail viewed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items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Contract completeness = 4 defined triggers / 4 events =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100%; it does not establish live tracking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measurement-plan.csv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plan covers four journey stages. These counts describe contract coverage…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plan covers four journey stages. These counts describe contract coverage, not received GA4 traffic.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Count of planned stage events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GA4 recommended purchase teaching payload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event = {"name": "purchase", "params":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"transaction_id": "SYN-T001",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"currency": "SGD", "value": 600,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"items": [{"item_id": "COURSE01",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       "item_name": "Synthetic programme"}]}}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measurement-plan.csv;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trigger prove the business outcome?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named event with contract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trigger or rename metric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event_name: page_view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plan covers four journey stages. These counts describe contract coverage, not received…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the trigger prove the business outcome?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named event with contract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consent-notes.md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Change trigger or rename metric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generate_lead fires when a form button is pressed even if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validation fails. The event trigger must be confirmed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successful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events with unambiguous success triggers; purchase…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event_name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page_view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measurement-plan.csv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Contract completeness = 4 defined triggers / 4 events = 100%; it does not establish live tracking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generate_lead fires when a form button is pressed even if validation fails. The event trigger must be…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Change trigger or rename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measurement-contract.csv and consent-notes.md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recommended event semantics and current official documentation. Never send names, emails or phone numbers…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recommended event semantics and current official documentation. Never send names, emails or phone numbers as analytics parameters. Collection is gated by the organisation’s consent policy.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measurement-plan.csv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event_name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measurement-contract.csv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Contract completeness = 4 defined triggers / 4 events = 100%; it does not establish live tracking coverage. Output: measurement-contract.csv and consent-notes.md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07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Measurement Contract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Four events with unambiguous success triggers; purchase transaction_id,currency,value,items; no personal-data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synthetic event export contains duplicate purchases and a missing transaction ID. Claude Code should create a reproducible audit without silently removing evidence or treating a CSV as a live GA4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event-audit.csv and reconciliation.md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raw rows retained in audit; T001 counted once; T002 once; E04 missing-ID; accepted value $1100.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Event Quality and Deduplication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Parse schema -&gt; isolate purchases -&gt; validate transaction IDs -&gt; group duplicates -&gt; reconcile value -&gt; emit accepted and quarantined rows -&gt; human review.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event_id;check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event_name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event_name;check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transaction_id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T001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transaction_id;check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value;check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SGD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currency;check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event_id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transaction_id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currency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Raw purchase value = 600+600+500+400 = $2100. Valid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distinct transaction value = $1100; duplicate $600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missing-ID $400 are quarantined.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reconciliation. Raw revenue is overstated by $1000; the audit must…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reconciliation. Raw revenue is overstated by $1000; the audit must preserve excluded event IDs and reasons.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Synthetic purchase value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Event Quality and Deduplication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purchases = [r for r in rows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     if r["event_name"] == "purchase"]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seen = set(); valid = []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purchases: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tid = r["transaction_id"]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if tid and tid not in seen: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valid.append(r); seen.add(tid)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purchase transaction ID valid and unique?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Accept for transaction-value total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Quarantine with event_id reason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Event Quality and Deduplication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event_id: E01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reconciliation. Raw revenue is overstated by $1000; the audit must preserve excluded…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the purchase transaction ID valid and unique?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Accept for transaction-value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reconciliation.md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Deduplicating by value removes two different $600 orders. Transaction identity, not price equality…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Quarantine with event_id reason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Deduplicating by value removes two different $600 orders.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Transaction identity, not price equality, determines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Five raw rows retained in audit; T001 counted once; T002 once; E04 missing-ID…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Event Quality and Deduplication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events.csv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Raw purchase value = 600+600+500+400 = $2100. Valid distinct transaction value = $1100; duplicate $600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Deduplicating by value removes two different $600 orders. Transaction identity, not price equality…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Quarantine with event_id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event-audit.csv and reconciliation.md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raw exports immutable, log rejection reasons, validate currency before summing, and make deduplication…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Keep raw exports immutable, log rejection reasons, validate currency before summing, and make deduplication rules explicit. This dataset does not test actual GA4 deduplication.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Event Quality and Deduplication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5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event-audit.csv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Raw purchase value = 600+600+500+400 = $2100. Valid distinct transaction value = $1100; duplicate $600 and missing-ID $400 are quarantined. Output: event-audit.csv and reconciliation.md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08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Event Quality and Deduplication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Five raw rows retained in audit; T001 counted once; T002 once; E04 missing-ID; accepted value $1100.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Four synthetic conversion journeys include paid search, organic search, email and direct visits. Comparing first and last touch illustrates attribution sensitivity without pretending to reproduce GA4 data-driven attribution.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attribution-comparison.csv and model-limitations.md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models reconcile to $2400; paid first-touch $1200; email last-touch $1300; no causal ROI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touchpoints.csv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eligible channels and lookback -&gt; order touches -&gt; choose allocation model -&gt; reconcile totals -&gt; compare sensitivity -&gt; distinguish attribution from lift.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journey_id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journey_id;check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first_channel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Paid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first_channel;check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last_channel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last_channel;check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journey_id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first_channel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last_channel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Organic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Email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Email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700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First-touch paid search revenue = $1200; last-touch = $0.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Email receives $700 first-touch and $1300 last-touch.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Model choice changes assigned credit.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touchpoints.csv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first/last-touch allocation, both total $2400. Neither is an estimate of…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first/last-touch allocation, both total $2400. Neither is an estimate of incremental causal impact or GA4 data-driven credit.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Allocated synthetic revenue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C586C0"/>
                </a:solidFill>
                <a:latin typeface="Consolas"/>
              </a:rPr>
              <a:t>from collections import defaultdict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first = defaultdict(float); last = defaultdict(float)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v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first[r["first_channel"]] += v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last[r["last_channel"]] +=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touchpoints.csv;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decision about assigning descriptive channel credit?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Credit: compare allocation models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Lift: design causal 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journey_id: J01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first/last-touch allocation, both total $2400. Neither is an estimate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the decision about assigning descriptive channel credit?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Credit: compare allocation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model-limitations.md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Lift: design causal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agent cuts paid search because last-touch credit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zero. Assisted demand and incremental impact require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separate investigation.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models reconcile to $2400; paid first-touch $1200; email last-touch $1300; no…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journey_id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J01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touchpoints.csv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First-touch paid search revenue = $1200; last-touch = $0. Email receives $700 first-touch and $1300…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cuts paid search because last-touch credit is zero. Assisted demand and incremental impact require…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Lift: design causal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attribution-comparison.csv and model-limitations.md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attribution for descriptive allocation; use controlled experiments or credible causal designs for…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attribution for descriptive allocation; use controlled experiments or credible causal designs for incremental effects. Explicitly state identity, consent and lookback limitations.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Conversions and Attribution Limits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touchpoints.csv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journey_id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attribution-comparison.csv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First-touch paid search revenue = $1200; last-touch = $0. Email receives $700 first-touch and $1300 last-touch. Model choice changes assigned credit. Output: attribution-comparison.csv and model-limitations.md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09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Conversions and Attribution Limits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models reconcile to $2400; paid first-touch $1200; email last-touch $1300; no causal ROI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fictional email campaign targets enquiry and enrolled segments. Cowork must adapt evidence-backed messages to a brand brief while preserving consent rules, avoiding fabricated urgency and producing drafts for human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message-variants.md and review-checklist.csv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segment drafts; claim IDs and CTA; no invented scarcity; send_authorised false; rates use sent.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lifecycle.csv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 brief -&gt; segment need -&gt; approved claim -&gt; channel/consent constraint -&gt; draft variant -&gt; human brand review -&gt; measurement hypothesis.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segment;check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eligible;check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sent;check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clicked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clicked;check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enrolled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enrolled;check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clicked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enrolled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Qualified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Past learner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Click rate uses sent: 16/80=20%,12/40=30%,18/90=20%.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Enrolment per sent: 5%,15%,10%; no claim of incremental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email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lifecycle.csv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click rates by sent denominator. Qualified leads respond more, but…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click rates by sent denominator. Qualified leads respond more, but eligibility and existing intent differ across segments.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Clicks per sent email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Authored lifecycle output contract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draft = {"segment": "Qualified lead",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"claim_ids": ["CL01"], "status": "human_review",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"subject": "Compare evening learning options",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"cta": "View verified course details",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"send_authorised": False}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lifecycle.csv;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every promotional claim evidence-approved?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Prepare human-reviewed draft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or request proof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segment: New enquiry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click rates by sent denominator. Qualified leads respond more, but eligibility and…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every promotional claim evidence-approved?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Prepare human-reviewed draft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review-checklist.csv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Remove or request proof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 draft says only two seats remain without inventory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evidence. The urgency claim must be removed or verified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by an authorised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Three segment drafts; claim IDs and CTA; no invented scarcity; send_authorised…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segment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New enquiry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lifecycle.csv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Click rate uses sent: 16/80=20%,12/40=30%,18/90=20%. Enrolment per sent: 5%,15%,10%; no claim of incremental…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draft says only two seats remain without inventory evidence. The urgency claim must be removed or verified…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Remove or request proof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message-variants.md and review-checklist.csv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Draft only; no send authorisation. Use approved factual claims, consented audiences, clear opt-out and…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Draft only; no send authorisation. Use approved factual claims, consented audiences, clear opt-out and reviewer sign-off. Avoid interpreting synthetic clicks as causal lift.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Lifecycle Creative from Evidence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lifecycle.csv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3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segment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message-variants.md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Click rate uses sent: 16/80=20%,12/40=30%,18/90=20%. Enrolment per sent: 5%,15%,10%; no claim of incremental email impact. Output: message-variants.md and review-checklist.csv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10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Lifecycle Creative from Evidence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Three segment drafts; claim IDs and CTA; no invented scarcity; send_authorised false; rates use 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synthetic search-content export tracks impressions, clicks and enquiries. Cowork should cluster intent and propose an experiment, using observed rate information without claiming an invented search ranking or guaranteed AI visibility.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intent-map.csv and experiment-brief.md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CTRs 4%,3%,6%,3%; training enquiry/click 12.5%; one isolated change and explicit confounder.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search-content.csv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Normalise query -&gt; classify intent -&gt; map page/claim -&gt; calculate CTR and enquiry rates -&gt; isolate one content change -&gt; define control/window -&gt; assess uncertainty.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query;check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impressions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impressions;check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clicks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clicks;check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enquiries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enquiries;check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commercial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intent;check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impressions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clicks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claude cowork 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market research 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email segmentation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CTR = clicks/impressions. Training query: 48/800=6%;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enquiry/click = 6/48=12.5%. High impression volume alone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does not establish useful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search-content.csv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CTR percentages. Research training has higher CTR and enquiry rate; intent…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CTR percentages. Research training has higher CTR and enquiry rate; intent and page relevance are hypotheses to validate.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Clicks per search impression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impressions = int(r["impressions"])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clicks = int(r["clicks"])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r["ctr"] = clicks/impressions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r["enquiry_per_click"] = (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        int(r["enquiries"])/clicks if clicks else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search-content.csv;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query match a measurable customer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a claim-backed page change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intent before production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query: ai marketing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CTR percentages. Research training has higher CTR and enquiry rate; intent and page…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the query match a measurable customer need?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 a claim-backed page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experiment-brief.md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intent before production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 content plan targets the highest-impression query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ignores enquiry quality. Optimise against the decision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metric rather than raw 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CTRs 4%,3%,6%,3%; training enquiry/click 12.5%; one isolated change and explicit…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query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ai marketing course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search-content.csv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CTR = clicks/impressions. Training query: 48/800=6%; enquiry/click = 6/48=12.5%. High impression volume alone…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content plan targets the highest-impression query and ignores enquiry quality. Optimise against the…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intent before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intent-map.csv and experiment-brief.md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Avoid keyword stuffing and unsupported claims. Record source date, search geography and device where…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Avoid keyword stuffing and unsupported claims. Record source date, search geography and device where available. Seasonal and ranking changes can confound before/after comparisons.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search-content.csv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query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intent-map.csv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CTR = clicks/impressions. Training query: 48/800=6%; enquiry/click = 6/48=12.5%. High impression volume alone does not establish useful demand. Output: intent-map.csv and experiment-brief.md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11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SEO Content Experiment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CTRs 4%,3%,6%,3%; training enquiry/click 12.5%; one isolated change and explicit confounder.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Behaviour and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Six synthetic monthly enquiry counts are used to forecast one month. Claude Code must compare a last-value baseline and three-month moving average, preserving seasonality and short-history uncertainty.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forecast.csv and forecast-assumptions.md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demand.csv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regular intervals -&gt; reserve test period -&gt; compute naive baseline -&gt; compare moving average -&gt; record error -&gt; state scenario range -&gt; monitor change.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month;check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enquiries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enquiries;check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campaign_change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campaign_change;check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enquiries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campaign_change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2026-08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September last-value forecast=104; three-month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mean=(96+100+104)/3=100. At August, rolling mean of May-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July=93.33; absolute error=10.67.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demand.csv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monthly enquiries. A campaign changed in June; trend continuation is an…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monthly enquiries. A campaign changed in June; trend continuation is an assumption, not evidence of stable future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Monthly enquiries (count)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values = [80,88,84,96,100,104]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naive = values[-1]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moving_average = sum(values[-3:])/3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aug_prediction = sum(values[2:5])/3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aug_abs_error = abs(values[5]-aug_prediction)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assert moving_average ==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demand.csv;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model beat a simple held-out baseline?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cautiously with monitoring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Prefer baseline; collect more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month: 2026-03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September last-value forecast=104; three-month mean=(96+100+104)/3=100. At August, rolling mean of…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monthly enquiries. A campaign changed in June; trend continuation is an assumption, not…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the model beat a simple held-out baseline?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cautiously with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forecast-assumptions.md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baseline; collect more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agent fits an elaborate model to six points and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reports a precise probability interval. The data do not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support such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Naive 104; moving-average 100; August moving-average error 10.67; campaign shift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month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2026-03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demand.csv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September last-value forecast=104; three-month mean=(96+100+104)/3=100. At August, rolling mean of…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fits an elaborate model to six points and reports a precise probability interval. The data do not…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baseline; collect more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forecast.csv and forecast-assumptions.md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simple baselines, avoid training on the held-out month, label scenario ranges as assumptions, and discuss…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simple baselines, avoid training on the held-out month, label scenario ranges as assumptions, and discuss campaign shifts plus missing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demand.csv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6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month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forecast.csv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September last-value forecast=104; three-month mean=(96+100+104)/3=100. At August, rolling mean of May-July=93.33; absolute error=10.67. Output: forecast.csv and forecast-assumptions.md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ACTIVITY 12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Bounded Demand Forecast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Naive 104; moving-average 100; August moving-average error 10.67; campaign shift and seasonality caveats.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Trends and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reproducible research workspace stores evidence, code and review rules. A local read-only MCP connector or CSV fallback supplies synthetic channel metrics; a custom Skill defines research checks without granting tools or overriding permissions.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SKILL.md,analysis.py and tool-audit.md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tool-results.csv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question -&gt; reviewed Skill -&gt; approved read-only MCP tool -&gt; schema validation -&gt; deterministic calculation -&gt; source-linked report -&gt; reviewer. CSV fallback tests the same data contract.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sessions;check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source_id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M01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source_id;check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source_id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Organic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Direct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Lead rates: paid 5%,organic 4%,email 8%,direct 1%; total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96/2400=4%. A Skill’s instructions do not create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connector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tool-results.csv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read-only metrics. Email has a higher observed lead rate; audience…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read-only metrics. Email has a higher observed lead rate; audience selection prevents a causal superiority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Leads per session (%)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name: market-evidence-audit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description: Audit evidence-linked marketing research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Preserve source_id and raw inputs.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State denominator, window and limitations.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Reject unsupported claims; write outputs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tool-results.csv;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tool approved, read-only and schema-valid?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Calculate; retain tool provenance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CSV fallback; record boundary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read-only metrics. Email has a higher observed lead rate; audience selection prevents 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the tool approved, read-only and schema-valid?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Calculate; retain tool provenance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tool-audit.md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CSV fallback; record boundary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agent treats the Skill as permission to access 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production account. Instruction reuse and tool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authorisation are separate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source IDs retained; rates 5%,4%,8%,1%,overall 4%; local MCP…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tool-results.csv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Lead rates: paid 5%,organic 4%,email 8%,direct 1%; total 96/2400=4%. A Skill’s instructions do not create…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treats the Skill as permission to access a production account. Instruction reuse and tool…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CSV fallback; record boundary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SKILL.md,analysis.py and tool-audit.md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Inspect tool scope and data destinations; use read-only synthetic connector, no secrets in repository…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Inspect tool scope and data destinations; use read-only synthetic connector, no secrets in repository. Require approval for new network endpoints and use local fallback if account access is unavailable.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Claude Code Skills and MCP Audit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tool-results.csv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Lead rates: paid 5%,organic 4%,email 8%,direct 1%; total 96/2400=4%. A Skill’s instructions do not create connector access. Output: SKILL.md,analysis.py and tool-audit.md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ACTIVITY 13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Claude Code Skills and MCP Audit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Four source IDs retained; rates 5%,4%,8%,1%,overall 4%; local MCP initialize/list/call test passes; Skill front matter valid; Claude invocation separately evidenced;no live account claimed.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Marketing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Cowork evidence synthesis · Claude Code reproducible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Non-WSQ commercial short course · LO4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synthetic cross-channel campaign has spend, leads and revenue. Teams combine Cowork evidence synthesis and Claude Code calculations into a budget recommendation with attribution sensitivity, margin boundaries and a human approval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effectiveness-report.md,budget-test.csv and approval-record.md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Claude Cowork · Claude Code · CSV / Markdown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Effectiveness Decision Capstone · Data and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Raw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campaigns.csv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IDs,date,units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Deterministic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and formulas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 before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Reconcile inputs -&gt; compute denominator-aware metrics -&gt; apply margin -&gt; inspect attribution -&gt; challenge confounders -&gt; recommend bounded test -&gt; human approve -&gt; monitor.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Input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str; example: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channel;check units/identity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spend_sgd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1200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spend_sgd;check units/identity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leads;check units/identity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int; example: 2400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revenue_sgd;check units/identity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gross_margin_rate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float; example: 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gross_margin_rate;check units/identity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Source rows remain immutable. New computed fields belong in outputs; ambiguous data is qualified rather than invented.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Evidence Exhibit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spend_sgd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gross_margin_rate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Paid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Organic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1800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Direct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0.5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This exhibit is an authored synthetic dataset. Read exact units and identifiers before interpreting values.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Worked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Interpret the denominator,units and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Paid CPL=$1200/30=$40; revenue ROAS=2; contribution after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spend=$2400×0.5-$1200=$0. ROAS is not profit or causal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campaigns.csv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Recompute exact values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gross-margin contribution after listed spend. Direct’s zero allocated…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Synthetic descriptive evidence;live/causal result not established.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Editable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gross-margin contribution after listed spend. Direct’s zero allocated spend does not mean customer acquisition is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67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Contribution after listed spend (SGD)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Effectiveness Decision Capstone · Reproducible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Readable excerpt; complete procedure and runnable practice remain in the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for r in rows: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spend = float(r["spend_sgd"])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revenue = float(r["revenue_sgd"])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margin = float(r["gross_margin_rate"])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r["contribution"] = revenue*margin-spend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r["cpl"] = spend/int(r["leads"])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campaigns.csv; exact field names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row IDs or segment labels.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Deterministic code checks the agent narrative.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profit, attribution and evidence boundaries clear?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 capped experiment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for missing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This is an authored research decision rule. It does not grant product permissions or replace human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Effectiveness Decision Capstone · Claim-Evidence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Claim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wording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channel: Paid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Synthetic gross-margin contribution after listed spend. Direct’s zero allocated spend does not mean…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profit, attribution and evidence boundaries clear?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Recommendation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Recommend capped experiment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approval-record.md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for missing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Preserve the distinction between observed data, model output and human decision throughout Cowork and Code handoffs.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plausible report can be wrong even when its numbers look polished.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The report calls paid search profitable because ROAS 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2. At a 50% gross margin, contribution after media spend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is zero before other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agent promotes a claim beyond its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underlying rows,scope and denominator.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Revise the claim and retain the rejected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96 leads; spend $2100; revenue $6000; contribution $900; paid CPL40 and…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Effectiveness Decision Capstone · Control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Required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channel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search omitted or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raw identifiers in campaigns.csv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Paid CPL=$1200/30=$40; revenue ROAS=2; contribution after spend=$2400×0.5-$1200=$0. ROAS is not profit or…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Independent calculation and named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Inference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report calls paid search profitable because ROAS is 2. At a 50% gross margin, contribution after media…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for missing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Decision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effectiveness-report.md,budget-test.csv and approval-record.md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attribution model, accounting coverage and consent limitations. Cap recommendations to a test budget…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State attribution model, accounting coverage and consent limitations. Cap recommendations to a test budget and require human sign-off before publishing or changing campaigns.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Effectiveness Decision Capstone · Output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campaigns.csv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Raw 4 records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channel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Preserve identifiers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effectiveness-report.md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Computed 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Reviewer decision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OUTPUT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Paid CPL=$1200/30=$40; revenue ROAS=2; contribution after spend=$2400×0.5-$1200=$0. ROAS is not profit or causal ROI. Output: effectiveness-report.md,budget-test.csv and approval-record.md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ACTIVITY 14 · SYNTHETIC TEACHING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Effectiveness Decision Capstone ·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96 leads; spend $2100; revenue $6000; contribution $900; paid CPL40 and contribution0; human approval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Numbers disagree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header parsing,units,denominator and duplicate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Claim lacks 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row IDs and scope; downgrade or remove unsupported inference.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Tool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documented CSV fallback and state the unexecuted product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Behavioural Analytics and Primary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can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Missing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GA4 consented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Observed digital actions and trends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Motivation,non-visitors,causality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Survey/interview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Stated needs and willingness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Observed behaviour and selection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Cowork synthesis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Evidence organisation and drafts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Truth without source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Reproducible checks and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assumptions and data rights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K1 · Combine behavioural traces with primary research; agent output is an analysis artifact, not a new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Demographic Segmentation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Permitted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Self-reported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Tailor validation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 and volunteer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 band with 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Aggregate audience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Avoid identifying small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Observed journey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Behavioural messaging hypothesis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Intent remains inferred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Unknown attribute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Leave unknown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Never infer protected traits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K2 · Demographic and behavioural variables answer different questions; do not invent persona attributes.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Pricing Evidence and Willingness to 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Calculation or mechanism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Competitor offer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SGD/hour with matched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Advertised price is not willingness to 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Checkout behaviour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Completed purchases / eligible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Confounded by acquisition and seasonality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Survey question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Neutral stated-price 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Hypothetical and selection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Controlled price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Randomised eligible groups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Ethics,consent and business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K3 · GA4 can describe behaviour around offers; independent pricing research and controlled tests are needed for demand interpretation.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Survey Questions That Test a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Question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Weak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Improved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Would you love evening classes?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Which session time can you attend?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Content need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Is AI marketing amazing?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Which task is hardest this month?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Would you pay our great price?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Which option would you consider at $X?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Bias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Existing learners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Include target non-customers and record sampling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K4/A3 · Define decision,population,response options and sampling limits before agent-assisted coding.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Account-to-Stream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Research implication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Organisational ownership/access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Confirm authorised property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Property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Web/app reporting boundary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mix unrelated brands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Website/app collection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Confirm stream and consent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Field/window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source,date,filters and units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Legacy setup coverage retained as architecture; exact click paths are in the LG and current official documentation.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Metrics and Denominators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Dimension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source /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matching attribution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sessions;event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call event count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key events / stated denominator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user/session/event denominator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period,channel,device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Preserve filter state with export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LO1/LO2 · A report export is interpretable only when its dimension,metric,scope and filter contract is retained.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Acquisition and Trend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User acquisition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First user source/medium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Initial acquisition perspective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Traffic acquisition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source/medium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perspective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Same metric and intervals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Account for tracking or campaign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Competitor keyword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External licensed/public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 a GA4 competitor feed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K5/A4 · Compare aligned periods and source scope; obtain competitor evidence separately.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Engagement and Behaviour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Indicator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Engaged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Qualified session behaviour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Definition and consent coverage matter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Page/screen event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 unique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Key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Marked important outcomes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Trigger quality must be tested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Average engagement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Engagement metric within 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Does not establish motivation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A5/A6 · Report exact metric labels and period; benchmark only comparable populations and methods.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Explorations: Variables to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Free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Dimensions,metrics,segments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Inspect cross-tabs and distributions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Funnel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 steps,open/closed,window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Locate observed drop-off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Start/end node and event/page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Explore sequence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External forecast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Exported regular time series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 claimed GA4-native forecasting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K7 · Explorations describe observed data; external models must keep assumptions and execution provenance.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Forecast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Held-out August prediction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Absolute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Last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July=100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|104-100|=4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Three-month 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(84+96+100)/3=93.33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10.67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Complex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Six observations insufficient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Unsupported precision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September choice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Naive104 or MA100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Baseline comparison favours naive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K6/A7 · Compare predictions on a held-out period,then forecast; six months cannot resolve annual seasonality.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Descriptive, Predictive and Causal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Descriptive funnel/segment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Where/how do groups differ?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Aligned counts and definitions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Time-series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next-period demand?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Held-out error and drift assumptions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Controlled experiment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 change cause lift?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Random assignment and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Attribution allocation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Who receives credit?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and lookback sensitivity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K7 · Distinguish descriptive,predictive,causal and allocation models before evaluating marketing effectiveness.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Controlled Creative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Failure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400 eligible users per 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eligibility equal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Random A/B before 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Avoid self-selected arms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A20/400=5%;B28/400=7%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+2 percentage points 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Small sample;uncertain 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claim guaranteed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A8 · Specify unit,control,primary metric,window and stop rule; significance needs a suitable statistical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Conversion Rate, CPA and Revenue ROAS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Worked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Conversion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12 enrolments/2400 sessions=0.5%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cohort and denominator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Spend1200/12 acquisitions=100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Acquisitions differ from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CPL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Spend1200/30 leads=40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Lead is not a paying 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Revenue ROAS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Attributed revenue2400/spend1200=2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 profit or incremental ROI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K8 · Contribution after spend=2400×50%-1200=0; protect metric names and accounting boundaries.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GA4 Key Events and Ads Conversions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Collected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Received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trigger and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Key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Important business outcome in GA4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Mark according to measurement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Ads conversion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Advertising measurement outcome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Product linkage and configuration matter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Current property,period,metric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reuse legacy conversion labels blindly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LO4 · Current GA4 distinguishes key events from Ads conversions; a drafted contract is not live configuration evidence.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FILED K1–K8 / A1–A8 COVERAGE · SYNTHETIC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and Join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Join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Synthetic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Cost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date+source+medium+campaign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Unmatched cost rows distort ROAS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Item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item_id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 catalog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User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Approved pseudonymous identifier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Consent and re-identification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Reconciliation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Matched + unmatched = raw rows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rejected records visible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Legacy data-import coverage retained as a data contract; no real customer identifiers are used in training.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RESEARCH METHOD · ILLUSTRATIVE GENERATED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Primary Evidence:Question,Response and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search-interview-v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48640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874519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Decision:evening programme demand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Neutral question:Which session times can you attend?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Response record:participant_id,time preference,quote,consent status.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Code:timing;preserve exact quote and non-response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Generated illustrative photograph;no real participant or collected evidence. Synthetic personas are hypotheses,not replacements for representative respondents.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Share your views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you will apply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discussion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Slides and activities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Continue practising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Tell us what worked and what to improve, so the next run is better.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the evidence trail:source -&gt; calculation -&gt; limitation -&gt; reviewed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AI for Market Research  ·  C386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