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Agentic AI for Linkedin Marketing (C386)</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C386</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3 August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Tertiary Infotech Academy</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Industry certified in the subject area of this course.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Professional short courses for Tertiary Infotech Academy.</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this subject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2 Days, 8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Agent foundations, profile, prompting, and content systems</a:t>
            </a:r>
          </a:p>
          <a:p>
            <a:pPr>
              <a:spcAft>
                <a:spcPts val="1000"/>
              </a:spcAft>
            </a:pPr>
            <a:r>
              <a:rPr sz="1400" b="0">
                <a:solidFill>
                  <a:srgbClr val="5B6372"/>
                </a:solidFill>
                <a:latin typeface="Arial"/>
              </a:rPr>
              <a:t>–  Topic 1: Getting Started with Agentic AI for LinkedIn Marketing (Labs 1–2)</a:t>
            </a:r>
          </a:p>
          <a:p>
            <a:pPr>
              <a:spcAft>
                <a:spcPts val="1000"/>
              </a:spcAft>
            </a:pPr>
            <a:r>
              <a:rPr sz="1400" b="0">
                <a:solidFill>
                  <a:srgbClr val="5B6372"/>
                </a:solidFill>
                <a:latin typeface="Arial"/>
              </a:rPr>
              <a:t>–  Topic 2: Content Creation and Personal Branding with AI (Labs 3–4)</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Prospecting, outreach, governed workflows, and improvement</a:t>
            </a:r>
          </a:p>
          <a:p>
            <a:pPr>
              <a:spcAft>
                <a:spcPts val="1000"/>
              </a:spcAft>
            </a:pPr>
            <a:r>
              <a:rPr sz="1400" b="0">
                <a:solidFill>
                  <a:srgbClr val="5B6372"/>
                </a:solidFill>
                <a:latin typeface="Arial"/>
              </a:rPr>
              <a:t>–  Topic 3: Lead Generation and Outreach with AI Agents (Labs 5–6)</a:t>
            </a:r>
          </a:p>
          <a:p>
            <a:pPr>
              <a:spcAft>
                <a:spcPts val="1000"/>
              </a:spcAft>
            </a:pPr>
            <a:r>
              <a:rPr sz="1400" b="0">
                <a:solidFill>
                  <a:srgbClr val="5B6372"/>
                </a:solidFill>
                <a:latin typeface="Arial"/>
              </a:rPr>
              <a:t>–  Topic 4: Automating and Scaling LinkedIn with AI Agents (Labs 7–8)</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9:00 am - 6:00 pm (1-hour lunch; two 15-minute tea breaks)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Agent Foundations</a:t>
            </a:r>
          </a:p>
          <a:p>
            <a:pPr algn="l">
              <a:spcAft>
                <a:spcPts val="300"/>
              </a:spcAft>
            </a:pPr>
            <a:r>
              <a:rPr sz="1300" b="0">
                <a:solidFill>
                  <a:srgbClr val="5B6372"/>
                </a:solidFill>
                <a:latin typeface="Arial"/>
              </a:rPr>
              <a:t>Explain how goal-driven AI agents support LinkedIn marketing and define safe tool, evidence, and human-approval boundaries.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Profile &amp; Prompts</a:t>
            </a:r>
          </a:p>
          <a:p>
            <a:pPr algn="l">
              <a:spcAft>
                <a:spcPts val="300"/>
              </a:spcAft>
            </a:pPr>
            <a:r>
              <a:rPr sz="1300" b="0">
                <a:solidFill>
                  <a:srgbClr val="5B6372"/>
                </a:solidFill>
                <a:latin typeface="Arial"/>
              </a:rPr>
              <a:t>Optimise a LinkedIn profile and write reusable prompts that preserve an authentic professional voice.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Content System</a:t>
            </a:r>
          </a:p>
          <a:p>
            <a:pPr algn="l">
              <a:spcAft>
                <a:spcPts val="300"/>
              </a:spcAft>
            </a:pPr>
            <a:r>
              <a:rPr sz="1300" b="0">
                <a:solidFill>
                  <a:srgbClr val="5B6372"/>
                </a:solidFill>
                <a:latin typeface="Arial"/>
              </a:rPr>
              <a:t>Create evidence-grounded LinkedIn posts, articles, visual briefs, carousels, and a coherent content calendar.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Prospecting</a:t>
            </a:r>
          </a:p>
          <a:p>
            <a:pPr algn="l">
              <a:spcAft>
                <a:spcPts val="300"/>
              </a:spcAft>
            </a:pPr>
            <a:r>
              <a:rPr sz="1300" b="0">
                <a:solidFill>
                  <a:srgbClr val="5B6372"/>
                </a:solidFill>
                <a:latin typeface="Arial"/>
              </a:rPr>
              <a:t>Research and segment prospects from authorised information, then draft relevant connection and nurture messages for human review.</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Governed Workflow</a:t>
            </a:r>
          </a:p>
          <a:p>
            <a:pPr algn="l">
              <a:spcAft>
                <a:spcPts val="300"/>
              </a:spcAft>
            </a:pPr>
            <a:r>
              <a:rPr sz="1300" b="0">
                <a:solidFill>
                  <a:srgbClr val="5B6372"/>
                </a:solidFill>
                <a:latin typeface="Arial"/>
              </a:rPr>
              <a:t>Design a draft-first content, engagement, and follow-up workflow that respects LinkedIn rules and professional etiquette.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Measure &amp; Improve</a:t>
            </a:r>
          </a:p>
          <a:p>
            <a:pPr algn="l">
              <a:spcAft>
                <a:spcPts val="300"/>
              </a:spcAft>
            </a:pPr>
            <a:r>
              <a:rPr sz="1300" b="0">
                <a:solidFill>
                  <a:srgbClr val="5B6372"/>
                </a:solidFill>
                <a:latin typeface="Arial"/>
              </a:rPr>
              <a:t>Define LinkedIn performance metrics, diagnose synthetic results, and recommend one bounded improvement with a traceable decision record.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Agentic LinkedIn Marketing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Four Ideas to Keep in View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Strategy</a:t>
            </a:r>
          </a:p>
          <a:p>
            <a:pPr algn="l">
              <a:spcAft>
                <a:spcPts val="300"/>
              </a:spcAft>
            </a:pPr>
            <a:r>
              <a:rPr sz="1300" b="0">
                <a:solidFill>
                  <a:srgbClr val="5B6372"/>
                </a:solidFill>
                <a:latin typeface="Arial"/>
              </a:rPr>
              <a:t>Tie profile, content, outreach, and measurement to one decision chain.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Evidence</a:t>
            </a:r>
          </a:p>
          <a:p>
            <a:pPr algn="l">
              <a:spcAft>
                <a:spcPts val="300"/>
              </a:spcAft>
            </a:pPr>
            <a:r>
              <a:rPr sz="1300" b="0">
                <a:solidFill>
                  <a:srgbClr val="5B6372"/>
                </a:solidFill>
                <a:latin typeface="Arial"/>
              </a:rPr>
              <a:t>Keep approved facts, labelled hypotheses, and unknowns distinct.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Human authority</a:t>
            </a:r>
          </a:p>
          <a:p>
            <a:pPr algn="l">
              <a:spcAft>
                <a:spcPts val="300"/>
              </a:spcAft>
            </a:pPr>
            <a:r>
              <a:rPr sz="1300" b="0">
                <a:solidFill>
                  <a:srgbClr val="5B6372"/>
                </a:solidFill>
                <a:latin typeface="Arial"/>
              </a:rPr>
              <a:t>External actions stay behind named approval gates.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Learning loop</a:t>
            </a:r>
          </a:p>
          <a:p>
            <a:pPr algn="l">
              <a:spcAft>
                <a:spcPts val="300"/>
              </a:spcAft>
            </a:pPr>
            <a:r>
              <a:rPr sz="1300" b="0">
                <a:solidFill>
                  <a:srgbClr val="5B6372"/>
                </a:solidFill>
                <a:latin typeface="Arial"/>
              </a:rPr>
              <a:t>Validate, diagnose, propose one change, observe, and record.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G-C-A-T-E Agent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Goal</a:t>
            </a:r>
          </a:p>
          <a:p>
            <a:pPr algn="l">
              <a:spcAft>
                <a:spcPts val="300"/>
              </a:spcAft>
            </a:pPr>
            <a:r>
              <a:rPr sz="1200" b="0">
                <a:solidFill>
                  <a:srgbClr val="5B6372"/>
                </a:solidFill>
                <a:latin typeface="Arial"/>
              </a:rPr>
              <a:t>Define the decision and useful outcome.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Context &amp; Audience</a:t>
            </a:r>
          </a:p>
          <a:p>
            <a:pPr algn="l">
              <a:spcAft>
                <a:spcPts val="300"/>
              </a:spcAft>
            </a:pPr>
            <a:r>
              <a:rPr sz="1200" b="0">
                <a:solidFill>
                  <a:srgbClr val="5B6372"/>
                </a:solidFill>
                <a:latin typeface="Arial"/>
              </a:rPr>
              <a:t>Supply approved sources and reader needs.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Task &amp; Evidence</a:t>
            </a:r>
          </a:p>
          <a:p>
            <a:pPr algn="l">
              <a:spcAft>
                <a:spcPts val="300"/>
              </a:spcAft>
            </a:pPr>
            <a:r>
              <a:rPr sz="1200" b="0">
                <a:solidFill>
                  <a:srgbClr val="5B6372"/>
                </a:solidFill>
                <a:latin typeface="Arial"/>
              </a:rPr>
              <a:t>Specify the output and traceability rules.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Evaluation</a:t>
            </a:r>
          </a:p>
          <a:p>
            <a:pPr algn="l">
              <a:spcAft>
                <a:spcPts val="300"/>
              </a:spcAft>
            </a:pPr>
            <a:r>
              <a:rPr sz="1200" b="0">
                <a:solidFill>
                  <a:srgbClr val="5B6372"/>
                </a:solidFill>
                <a:latin typeface="Arial"/>
              </a:rPr>
              <a:t>Set checks, permissions, stop conditions, and handoff.</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OPERATING PRINCIPLE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Automate preparation; preserve professional judgement.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The agent researches approved inputs, drafts, checks, and recommends. A person owns identity, relationships, publication, messaging, and correction.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Will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Brand &amp; Content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Profile value stack</a:t>
            </a:r>
          </a:p>
          <a:p>
            <a:pPr>
              <a:spcAft>
                <a:spcPts val="900"/>
              </a:spcAft>
            </a:pPr>
            <a:r>
              <a:rPr sz="1400" b="0">
                <a:solidFill>
                  <a:srgbClr val="161B26"/>
                </a:solidFill>
                <a:latin typeface="Arial"/>
              </a:rPr>
              <a:t>•  Voice fingerprint</a:t>
            </a:r>
          </a:p>
          <a:p>
            <a:pPr>
              <a:spcAft>
                <a:spcPts val="900"/>
              </a:spcAft>
            </a:pPr>
            <a:r>
              <a:rPr sz="1400" b="0">
                <a:solidFill>
                  <a:srgbClr val="161B26"/>
                </a:solidFill>
                <a:latin typeface="Arial"/>
              </a:rPr>
              <a:t>•  Content kit and calendar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Prospect &amp; Outreach</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Evidence-based segments</a:t>
            </a:r>
          </a:p>
          <a:p>
            <a:pPr>
              <a:spcAft>
                <a:spcPts val="900"/>
              </a:spcAft>
            </a:pPr>
            <a:r>
              <a:rPr sz="1400" b="0">
                <a:solidFill>
                  <a:srgbClr val="161B26"/>
                </a:solidFill>
                <a:latin typeface="Arial"/>
              </a:rPr>
              <a:t>•  Personalised draft sequence</a:t>
            </a:r>
          </a:p>
          <a:p>
            <a:pPr>
              <a:spcAft>
                <a:spcPts val="900"/>
              </a:spcAft>
            </a:pPr>
            <a:r>
              <a:rPr sz="1400" b="0">
                <a:solidFill>
                  <a:srgbClr val="161B26"/>
                </a:solidFill>
                <a:latin typeface="Arial"/>
              </a:rPr>
              <a:t>•  Etiquette and escalation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Operate &amp; Improve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Draft-first workflow</a:t>
            </a:r>
          </a:p>
          <a:p>
            <a:pPr>
              <a:spcAft>
                <a:spcPts val="900"/>
              </a:spcAft>
            </a:pPr>
            <a:r>
              <a:rPr sz="1400" b="0">
                <a:solidFill>
                  <a:srgbClr val="161B26"/>
                </a:solidFill>
                <a:latin typeface="Arial"/>
              </a:rPr>
              <a:t>•  Approval packet</a:t>
            </a:r>
          </a:p>
          <a:p>
            <a:pPr>
              <a:spcAft>
                <a:spcPts val="900"/>
              </a:spcAft>
            </a:pPr>
            <a:r>
              <a:rPr sz="1400" b="0">
                <a:solidFill>
                  <a:srgbClr val="161B26"/>
                </a:solidFill>
                <a:latin typeface="Arial"/>
              </a:rPr>
              <a:t>•  Metric-led improvement loop</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Connected Learning Arc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Frame the goal, profile, evidence, tools, and authority boundary.</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Turn those decisions into a tested reusable prompt contract.</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Create content and a calendar using the same voice and evidence.</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Segment synthetic prospects and draft respectful outreach.</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Design a governed workflow, measure results, and recommend one bounded improvement.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Getting Started with Agentic AI for LinkedIn Marketing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LinkedIn strategy | AI agents and tools | profile and personal brand | effective prompting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Getting Started with Agentic AI for LinkedIn Marketing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Goal before tool</a:t>
            </a:r>
          </a:p>
          <a:p>
            <a:pPr algn="l">
              <a:spcAft>
                <a:spcPts val="300"/>
              </a:spcAft>
            </a:pPr>
            <a:r>
              <a:rPr sz="1200" b="0">
                <a:solidFill>
                  <a:srgbClr val="5B6372"/>
                </a:solidFill>
                <a:latin typeface="Arial"/>
              </a:rPr>
              <a:t>Begin with the business result, audience need, desired professional action, and evidence of success.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Agent loop</a:t>
            </a:r>
          </a:p>
          <a:p>
            <a:pPr algn="l">
              <a:spcAft>
                <a:spcPts val="300"/>
              </a:spcAft>
            </a:pPr>
            <a:r>
              <a:rPr sz="1200" b="0">
                <a:solidFill>
                  <a:srgbClr val="5B6372"/>
                </a:solidFill>
                <a:latin typeface="Arial"/>
              </a:rPr>
              <a:t>A bounded agent observes approved context, reasons against instructions, drafts an output, checks it, and hands off.</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Model, tools, instructions</a:t>
            </a:r>
          </a:p>
          <a:p>
            <a:pPr algn="l">
              <a:spcAft>
                <a:spcPts val="300"/>
              </a:spcAft>
            </a:pPr>
            <a:r>
              <a:rPr sz="1200" b="0">
                <a:solidFill>
                  <a:srgbClr val="5B6372"/>
                </a:solidFill>
                <a:latin typeface="Arial"/>
              </a:rPr>
              <a:t>The model interprets; tools retrieve or act; instructions define scope, quality, and stop conditions.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Human authority</a:t>
            </a:r>
          </a:p>
          <a:p>
            <a:pPr algn="l">
              <a:spcAft>
                <a:spcPts val="300"/>
              </a:spcAft>
            </a:pPr>
            <a:r>
              <a:rPr sz="1200" b="0">
                <a:solidFill>
                  <a:srgbClr val="5B6372"/>
                </a:solidFill>
                <a:latin typeface="Arial"/>
              </a:rPr>
              <a:t>Profile edits, public posts, invitations, messages, and account changes remain explicit human decisions.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Professional identity</a:t>
            </a:r>
          </a:p>
          <a:p>
            <a:pPr algn="l">
              <a:spcAft>
                <a:spcPts val="300"/>
              </a:spcAft>
            </a:pPr>
            <a:r>
              <a:rPr sz="1200" b="0">
                <a:solidFill>
                  <a:srgbClr val="5B6372"/>
                </a:solidFill>
                <a:latin typeface="Arial"/>
              </a:rPr>
              <a:t>A useful profile connects credible experience, audience value, proof, and a clear next action without keyword stuffing.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Evidence boundary</a:t>
            </a:r>
          </a:p>
          <a:p>
            <a:pPr algn="l">
              <a:spcAft>
                <a:spcPts val="300"/>
              </a:spcAft>
            </a:pPr>
            <a:r>
              <a:rPr sz="1200" b="0">
                <a:solidFill>
                  <a:srgbClr val="5B6372"/>
                </a:solidFill>
                <a:latin typeface="Arial"/>
              </a:rPr>
              <a:t>Approved facts, labelled hypotheses, and unknowns are kept distinct so fluent output is not mistaken for truth.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Getting Started with Agentic AI for LinkedIn Marketing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Prompt contract</a:t>
            </a:r>
          </a:p>
          <a:p>
            <a:pPr algn="l">
              <a:spcAft>
                <a:spcPts val="300"/>
              </a:spcAft>
            </a:pPr>
            <a:r>
              <a:rPr sz="1200" b="0">
                <a:solidFill>
                  <a:srgbClr val="5B6372"/>
                </a:solidFill>
                <a:latin typeface="Arial"/>
              </a:rPr>
              <a:t>Goal, Context, Audience, Task, Evidence, and Evaluation turn a vague request into a reusable operating instruction.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Responsible use</a:t>
            </a:r>
          </a:p>
          <a:p>
            <a:pPr algn="l">
              <a:spcAft>
                <a:spcPts val="300"/>
              </a:spcAft>
            </a:pPr>
            <a:r>
              <a:rPr sz="1200" b="0">
                <a:solidFill>
                  <a:srgbClr val="5B6372"/>
                </a:solidFill>
                <a:latin typeface="Arial"/>
              </a:rPr>
              <a:t>No scraping, unauthorised bots, mass messaging, credential sharing, deceptive claims, or inauthentic engagement.</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LinkedIn Marketing as a Decision System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LinkedIn activity is useful only when it supports a defined professional or business result. A decision chain connects the result to an audience need, a desired action, a channel job, and a metric. This prevents an agent from optimising for visible activity while ignoring whether the right people are learning, trusting, or taking the intended next step.</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For example, a consultancy seeking qualified discovery calls may use profile visits and relevant replies as leading indicators, but it should not call an impression a lead. The profile, content, and outreach system must all point to the same value proposition and next action.</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VISUAL FRAMEWORK</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LinkedIn Marketing as a Decision System — Concept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Business result</a:t>
            </a:r>
          </a:p>
          <a:p>
            <a:pPr algn="l">
              <a:spcAft>
                <a:spcPts val="300"/>
              </a:spcAft>
            </a:pPr>
            <a:r>
              <a:rPr sz="1200" b="0">
                <a:solidFill>
                  <a:srgbClr val="5B6372"/>
                </a:solidFill>
                <a:latin typeface="Arial"/>
              </a:rPr>
              <a:t>What must improve for the organisation?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Audience need</a:t>
            </a:r>
          </a:p>
          <a:p>
            <a:pPr algn="l">
              <a:spcAft>
                <a:spcPts val="300"/>
              </a:spcAft>
            </a:pPr>
            <a:r>
              <a:rPr sz="1200" b="0">
                <a:solidFill>
                  <a:srgbClr val="5B6372"/>
                </a:solidFill>
                <a:latin typeface="Arial"/>
              </a:rPr>
              <a:t>What useful problem can the brand help solve?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Desired action</a:t>
            </a:r>
          </a:p>
          <a:p>
            <a:pPr algn="l">
              <a:spcAft>
                <a:spcPts val="300"/>
              </a:spcAft>
            </a:pPr>
            <a:r>
              <a:rPr sz="1200" b="0">
                <a:solidFill>
                  <a:srgbClr val="5B6372"/>
                </a:solidFill>
                <a:latin typeface="Arial"/>
              </a:rPr>
              <a:t>What observable next step matters?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Evidence</a:t>
            </a:r>
          </a:p>
          <a:p>
            <a:pPr algn="l">
              <a:spcAft>
                <a:spcPts val="300"/>
              </a:spcAft>
            </a:pPr>
            <a:r>
              <a:rPr sz="1200" b="0">
                <a:solidFill>
                  <a:srgbClr val="5B6372"/>
                </a:solidFill>
                <a:latin typeface="Arial"/>
              </a:rPr>
              <a:t>Which metric indicates progress without overstating causality?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Makes a Marketing Workflow Agentic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 single AI-generated post is assistance, not an agent. An agentic workflow manages a multi-step goal: retrieve authorised context, choose a routine, produce a draft, evaluate it against rules, request missing information, and stop or hand control back when risk is high.</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The safest beginner pattern is recommendation-only. The agent may read approved synthetic files, draft artefacts, and recommend actions. It cannot publish, invite, message, collect personal data, or change account settings. This design is useful because it improves repeatability without giving away human accountability.</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VISUAL FRAMEWORK</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What Makes a Marketing Workflow Agentic — Concept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Observe</a:t>
            </a:r>
          </a:p>
          <a:p>
            <a:pPr algn="l">
              <a:spcAft>
                <a:spcPts val="300"/>
              </a:spcAft>
            </a:pPr>
            <a:r>
              <a:rPr sz="1200" b="0">
                <a:solidFill>
                  <a:srgbClr val="5B6372"/>
                </a:solidFill>
                <a:latin typeface="Arial"/>
              </a:rPr>
              <a:t>Read approved brief, profile, signals, or results.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Reason</a:t>
            </a:r>
          </a:p>
          <a:p>
            <a:pPr algn="l">
              <a:spcAft>
                <a:spcPts val="300"/>
              </a:spcAft>
            </a:pPr>
            <a:r>
              <a:rPr sz="1200" b="0">
                <a:solidFill>
                  <a:srgbClr val="5B6372"/>
                </a:solidFill>
                <a:latin typeface="Arial"/>
              </a:rPr>
              <a:t>Apply goal, evidence rules, and decision criteria.</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Draft</a:t>
            </a:r>
          </a:p>
          <a:p>
            <a:pPr algn="l">
              <a:spcAft>
                <a:spcPts val="300"/>
              </a:spcAft>
            </a:pPr>
            <a:r>
              <a:rPr sz="1200" b="0">
                <a:solidFill>
                  <a:srgbClr val="5B6372"/>
                </a:solidFill>
                <a:latin typeface="Arial"/>
              </a:rPr>
              <a:t>Create a structured recommendation or content draft.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Check &amp; hand off</a:t>
            </a:r>
          </a:p>
          <a:p>
            <a:pPr algn="l">
              <a:spcAft>
                <a:spcPts val="300"/>
              </a:spcAft>
            </a:pPr>
            <a:r>
              <a:rPr sz="1200" b="0">
                <a:solidFill>
                  <a:srgbClr val="5B6372"/>
                </a:solidFill>
                <a:latin typeface="Arial"/>
              </a:rPr>
              <a:t>Validate, log, and pause for the authorised person.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Profile and Personal-Brand Value Stack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The introduction section is the first profile area many visitors see. A strong headline states credible role or capability, the audience or problem served, and a differentiating proof point. The About section expands this into a concise story: current focus, audience value, evidence, point of view, and invitation to continue the conversation.</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Optimisation is not keyword repetition. LinkedIn advises members to keep profiles rich, accurate, and complete and to avoid keyword stuffing, inflated experience, and using a personal profile as an advertisement. Every AI edit therefore needs a source note and an accuracy check by the profile owner.</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VISUAL FRAMEWORK</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Profile and Personal-Brand Value Stack — Concept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Identity</a:t>
            </a:r>
          </a:p>
          <a:p>
            <a:pPr algn="l">
              <a:spcAft>
                <a:spcPts val="300"/>
              </a:spcAft>
            </a:pPr>
            <a:r>
              <a:rPr sz="1200" b="0">
                <a:solidFill>
                  <a:srgbClr val="5B6372"/>
                </a:solidFill>
                <a:latin typeface="Arial"/>
              </a:rPr>
              <a:t>What you genuinely do and can substantiate.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Audience</a:t>
            </a:r>
          </a:p>
          <a:p>
            <a:pPr algn="l">
              <a:spcAft>
                <a:spcPts val="300"/>
              </a:spcAft>
            </a:pPr>
            <a:r>
              <a:rPr sz="1200" b="0">
                <a:solidFill>
                  <a:srgbClr val="5B6372"/>
                </a:solidFill>
                <a:latin typeface="Arial"/>
              </a:rPr>
              <a:t>Who benefits and what they care about.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Value</a:t>
            </a:r>
          </a:p>
          <a:p>
            <a:pPr algn="l">
              <a:spcAft>
                <a:spcPts val="300"/>
              </a:spcAft>
            </a:pPr>
            <a:r>
              <a:rPr sz="1200" b="0">
                <a:solidFill>
                  <a:srgbClr val="5B6372"/>
                </a:solidFill>
                <a:latin typeface="Arial"/>
              </a:rPr>
              <a:t>The useful outcome you help create.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Proof</a:t>
            </a:r>
          </a:p>
          <a:p>
            <a:pPr algn="l">
              <a:spcAft>
                <a:spcPts val="300"/>
              </a:spcAft>
            </a:pPr>
            <a:r>
              <a:rPr sz="1200" b="0">
                <a:solidFill>
                  <a:srgbClr val="5B6372"/>
                </a:solidFill>
                <a:latin typeface="Arial"/>
              </a:rPr>
              <a:t>Specific experience, examples, or evidence you may claim.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G-C-A-T-E Prompt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 prompt contract is a reusable instruction set, not a one-off clever phrase. G-C-A-T-E names the Goal, Context, Audience, Task, Evidence, and Evaluation requirements. It also defines allowed tools, output shape, human gates, and failure behaviour.</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 good contract makes missing information visible. If a proof point is absent, the agent writes UNKNOWN or asks for it; it does not invent a client result. Evaluation criteria should include factual support, professional relevance, voice match, platform fit, and a clear next action.</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VISUAL FRAMEWORK</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The G-C-A-T-E Prompt Contract — Concept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 - Goal</a:t>
            </a:r>
          </a:p>
          <a:p>
            <a:pPr algn="l">
              <a:spcAft>
                <a:spcPts val="300"/>
              </a:spcAft>
            </a:pPr>
            <a:r>
              <a:rPr sz="1200" b="0">
                <a:solidFill>
                  <a:srgbClr val="5B6372"/>
                </a:solidFill>
                <a:latin typeface="Arial"/>
              </a:rPr>
              <a:t>Name the decision or useful outcome.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 - Context &amp; Audience</a:t>
            </a:r>
          </a:p>
          <a:p>
            <a:pPr algn="l">
              <a:spcAft>
                <a:spcPts val="300"/>
              </a:spcAft>
            </a:pPr>
            <a:r>
              <a:rPr sz="1200" b="0">
                <a:solidFill>
                  <a:srgbClr val="5B6372"/>
                </a:solidFill>
                <a:latin typeface="Arial"/>
              </a:rPr>
              <a:t>Supply approved facts and reader needs.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T/E - Task &amp; Evidence</a:t>
            </a:r>
          </a:p>
          <a:p>
            <a:pPr algn="l">
              <a:spcAft>
                <a:spcPts val="300"/>
              </a:spcAft>
            </a:pPr>
            <a:r>
              <a:rPr sz="1200" b="0">
                <a:solidFill>
                  <a:srgbClr val="5B6372"/>
                </a:solidFill>
                <a:latin typeface="Arial"/>
              </a:rPr>
              <a:t>Specify output and traceable inputs.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 - Evaluation</a:t>
            </a:r>
          </a:p>
          <a:p>
            <a:pPr algn="l">
              <a:spcAft>
                <a:spcPts val="300"/>
              </a:spcAft>
            </a:pPr>
            <a:r>
              <a:rPr sz="1200" b="0">
                <a:solidFill>
                  <a:srgbClr val="5B6372"/>
                </a:solidFill>
                <a:latin typeface="Arial"/>
              </a:rPr>
              <a:t>Define checks, limits, and stop conditions.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Risk Tiers and Approval Gates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Risk increases when a workflow moves from synthetic analysis to external action. Reading a supplied brand brief is low risk; drafting a profile or message is medium risk; publishing, inviting, messaging, processing personal data, or changing account settings is high risk.</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An approval gate states the action, owner, evidence packet, decision options, and rollback. A useful status vocabulary is DRAFT, READY FOR HUMAN REVIEW, APPROVED BY ROLE, and STOP - REASON. The agent must never treat silence as approval.</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VISUAL FRAMEWORK</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Risk Tiers and Approval Gates — Concept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Low</a:t>
            </a:r>
          </a:p>
          <a:p>
            <a:pPr algn="l">
              <a:spcAft>
                <a:spcPts val="300"/>
              </a:spcAft>
            </a:pPr>
            <a:r>
              <a:rPr sz="1200" b="0">
                <a:solidFill>
                  <a:srgbClr val="5B6372"/>
                </a:solidFill>
                <a:latin typeface="Arial"/>
              </a:rPr>
              <a:t>Synthetic or approved read-only analysis.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Medium</a:t>
            </a:r>
          </a:p>
          <a:p>
            <a:pPr algn="l">
              <a:spcAft>
                <a:spcPts val="300"/>
              </a:spcAft>
            </a:pPr>
            <a:r>
              <a:rPr sz="1200" b="0">
                <a:solidFill>
                  <a:srgbClr val="5B6372"/>
                </a:solidFill>
                <a:latin typeface="Arial"/>
              </a:rPr>
              <a:t>Drafts and recommendations that remain internal.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High</a:t>
            </a:r>
          </a:p>
          <a:p>
            <a:pPr algn="l">
              <a:spcAft>
                <a:spcPts val="300"/>
              </a:spcAft>
            </a:pPr>
            <a:r>
              <a:rPr sz="1200" b="0">
                <a:solidFill>
                  <a:srgbClr val="5B6372"/>
                </a:solidFill>
                <a:latin typeface="Arial"/>
              </a:rPr>
              <a:t>External action, personal data, identity, or reputation.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Gate</a:t>
            </a:r>
          </a:p>
          <a:p>
            <a:pPr algn="l">
              <a:spcAft>
                <a:spcPts val="300"/>
              </a:spcAft>
            </a:pPr>
            <a:r>
              <a:rPr sz="1200" b="0">
                <a:solidFill>
                  <a:srgbClr val="5B6372"/>
                </a:solidFill>
                <a:latin typeface="Arial"/>
              </a:rPr>
              <a:t>Named owner reviews evidence before any high-risk step.</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Getting Started with Agentic AI for LinkedIn Marketing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LinkedIn Strategy, Profile, and Agent Boundary Map</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Write and Boundary-Test the LinkedIn G-C-A-T-E Prompt Contract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the LinkedIn Strategy, Profile, and Agent Boundary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You start the connected Northstar Advisory scenario by turning its approved synthetic brand brief, audience signals, and current-profile draft into one coherent LinkedIn foundation. You identify what an AI agent may read, draft, recommend, or never do, then map the profile value stack and the decisions a human must retain.</a:t>
            </a:r>
          </a:p>
        </p:txBody>
      </p:sp>
      <p:sp>
        <p:nvSpPr>
          <p:cNvPr id="10" name="Rectangle 9"/>
          <p:cNvSpPr/>
          <p:nvPr/>
        </p:nvSpPr>
        <p:spPr>
          <a:xfrm>
            <a:off x="777240" y="3886200"/>
            <a:ext cx="10698480" cy="2057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41648"/>
            <a:ext cx="10058400" cy="274320"/>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325112"/>
            <a:ext cx="10058400" cy="804672"/>
          </a:xfrm>
          <a:prstGeom prst="rect">
            <a:avLst/>
          </a:prstGeom>
          <a:noFill/>
        </p:spPr>
        <p:txBody>
          <a:bodyPr wrap="square" anchor="t">
            <a:spAutoFit/>
          </a:bodyPr>
          <a:lstStyle/>
          <a:p>
            <a:pPr algn="l">
              <a:spcAft>
                <a:spcPts val="200"/>
              </a:spcAft>
            </a:pPr>
            <a:r>
              <a:rPr sz="1400" b="1">
                <a:solidFill>
                  <a:srgbClr val="161B26"/>
                </a:solidFill>
                <a:latin typeface="Arial"/>
              </a:rPr>
              <a:t>C386-linkedin-pack/01-foundation-profile-and-boundaries.md containing the decision chain, audience needs, profile audit, value stack, tool map, risk tiers, and approval gates.</a:t>
            </a:r>
          </a:p>
        </p:txBody>
      </p:sp>
      <p:sp>
        <p:nvSpPr>
          <p:cNvPr id="13" name="TextBox 12"/>
          <p:cNvSpPr txBox="1"/>
          <p:nvPr/>
        </p:nvSpPr>
        <p:spPr>
          <a:xfrm>
            <a:off x="1005840" y="5321808"/>
            <a:ext cx="10241280" cy="384048"/>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Approved AI assistant, text editor, supplied Markdown and CSV resources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the LinkedIn Strategy, Profile, and Agent Boundary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2</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Frame the decision chain and profile value stack from the approved brand brief, audience signals, and current-profile draft.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FACT / HYPOTHESIS / UNKNOWN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the LinkedIn Strategy, Profile, and Agent Boundary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2</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Map tools, risk tiers, and explicit human gates before any identity, publication, invitation, message, data, or account action.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DRAFT -&gt; HUMAN REVIEW -&gt; APPROVE / REVISE / STOP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the LinkedIn Strategy, Profile, and Agent Boundary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Open 01-foundation-profile-and-boundaries.md. It must contain five audience-journey stages with a source in every row, all six profile-value elements, seven tool roles, and explicit gates for identity, publishing, invitations, messages, personal data, permissions, and unsupported claims. The Review Log must contain the fixed AS-01, Approved Offer, and unsupported '10x' checks; the first two must trace exactly to source, while '10x' must be labelled UNKNOWN and removed.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and Boundary-Test the LinkedIn G-C-A-T-E Prompt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convert the foundation into an operating contract for a recommendation-only LinkedIn assistant. You test a deliberately vague prompt, a grounded profile-rewrite task, missing-evidence behaviour, hostile instructions, voice consistency, and attempts to trigger unauthorised action.</a:t>
            </a:r>
          </a:p>
        </p:txBody>
      </p:sp>
      <p:sp>
        <p:nvSpPr>
          <p:cNvPr id="10" name="Rectangle 9"/>
          <p:cNvSpPr/>
          <p:nvPr/>
        </p:nvSpPr>
        <p:spPr>
          <a:xfrm>
            <a:off x="777240" y="3886200"/>
            <a:ext cx="10698480" cy="2057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41648"/>
            <a:ext cx="10058400" cy="274320"/>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325112"/>
            <a:ext cx="10058400" cy="804672"/>
          </a:xfrm>
          <a:prstGeom prst="rect">
            <a:avLst/>
          </a:prstGeom>
          <a:noFill/>
        </p:spPr>
        <p:txBody>
          <a:bodyPr wrap="square" anchor="t">
            <a:spAutoFit/>
          </a:bodyPr>
          <a:lstStyle/>
          <a:p>
            <a:pPr algn="l">
              <a:spcAft>
                <a:spcPts val="200"/>
              </a:spcAft>
            </a:pPr>
            <a:r>
              <a:rPr sz="1400" b="1">
                <a:solidFill>
                  <a:srgbClr val="161B26"/>
                </a:solidFill>
                <a:latin typeface="Arial"/>
              </a:rPr>
              <a:t>C386-linkedin-pack/02-linkedin-agent-contract.md with the G-C-A-T-E contract, output schema, permission matrix, six test cases, observed results, revisions, and release checklist.</a:t>
            </a:r>
          </a:p>
        </p:txBody>
      </p:sp>
      <p:sp>
        <p:nvSpPr>
          <p:cNvPr id="13" name="TextBox 12"/>
          <p:cNvSpPr txBox="1"/>
          <p:nvPr/>
        </p:nvSpPr>
        <p:spPr>
          <a:xfrm>
            <a:off x="1005840" y="5321808"/>
            <a:ext cx="10241280" cy="384048"/>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Approved AI assistant, text editor, Lab 1 foundation and supplied current-profile draft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and Boundary-Test the LinkedIn G-C-A-T-E Prompt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2</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Translate the foundation into G-C-A-T-E instructions, an evidence rule, output schema, permission matrix, and explicit stop behaviour.</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GOAL + CONTEXT + AUDIENCE + TASK + EVIDENCE + EVALUATION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and Boundary-Test the LinkedIn G-C-A-T-E Prompt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2</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adversarial and missing-context tests, revise the contract, and release only when unsupported claims and denied actions are blocked.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TEST -&gt; OBSERVE -&gt; REVISE -&gt; RE-TEST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and Boundary-Test the LinkedIn G-C-A-T-E Prompt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Open 02-linkedin-agent-contract.md. Re-run fixed Test 1 and fixed Tests 4-6 with the fresh-chat protocol. Test 1 must cite supplied evidence, label unknowns, preserve the voice rules, and remain DRAFT; Tests 4-6 must return STOP, avoid the action, and identify the human owner. All six fixed cases must show exact input, expected behaviour, observed behaviour, result, contract version, and any revision.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Getting Started with Agentic AI for LinkedIn Marketing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LO1, LO2: Define the LinkedIn decision chain, profile value stack, authorised evidence, tool roles, risks, and human-approval gates.</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LO1, LO2: Create and test a reusable LinkedIn agent instruction that grounds profile and marketing drafts in approved evidence, voice, permissions, and stop conditions.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Content Creation and Personal Branding with AI</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Ideas and hooks | posts and articles | content calendar | visuals and carousels | authentic voice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Content Creation and Personal Branding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Audience job</a:t>
            </a:r>
          </a:p>
          <a:p>
            <a:pPr algn="l">
              <a:spcAft>
                <a:spcPts val="300"/>
              </a:spcAft>
            </a:pPr>
            <a:r>
              <a:rPr sz="1200" b="0">
                <a:solidFill>
                  <a:srgbClr val="5B6372"/>
                </a:solidFill>
                <a:latin typeface="Arial"/>
              </a:rPr>
              <a:t>Every item answers a professional question, reduces uncertainty, or enables a useful next step.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Content pillars</a:t>
            </a:r>
          </a:p>
          <a:p>
            <a:pPr algn="l">
              <a:spcAft>
                <a:spcPts val="300"/>
              </a:spcAft>
            </a:pPr>
            <a:r>
              <a:rPr sz="1200" b="0">
                <a:solidFill>
                  <a:srgbClr val="5B6372"/>
                </a:solidFill>
                <a:latin typeface="Arial"/>
              </a:rPr>
              <a:t>A small set of repeatable themes makes the brand recognisable without becoming repetitive.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Hook-to-value</a:t>
            </a:r>
          </a:p>
          <a:p>
            <a:pPr algn="l">
              <a:spcAft>
                <a:spcPts val="300"/>
              </a:spcAft>
            </a:pPr>
            <a:r>
              <a:rPr sz="1200" b="0">
                <a:solidFill>
                  <a:srgbClr val="5B6372"/>
                </a:solidFill>
                <a:latin typeface="Arial"/>
              </a:rPr>
              <a:t>The opening earns attention; the body delivers evidence or insight; the close offers a proportionate next action.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Format fit</a:t>
            </a:r>
          </a:p>
          <a:p>
            <a:pPr algn="l">
              <a:spcAft>
                <a:spcPts val="300"/>
              </a:spcAft>
            </a:pPr>
            <a:r>
              <a:rPr sz="1200" b="0">
                <a:solidFill>
                  <a:srgbClr val="5B6372"/>
                </a:solidFill>
                <a:latin typeface="Arial"/>
              </a:rPr>
              <a:t>Short posts, articles, documents, images, and video serve different depth and consumption needs.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Series logic</a:t>
            </a:r>
          </a:p>
          <a:p>
            <a:pPr algn="l">
              <a:spcAft>
                <a:spcPts val="300"/>
              </a:spcAft>
            </a:pPr>
            <a:r>
              <a:rPr sz="1200" b="0">
                <a:solidFill>
                  <a:srgbClr val="5B6372"/>
                </a:solidFill>
                <a:latin typeface="Arial"/>
              </a:rPr>
              <a:t>A calendar sequences ideas so one item prepares the audience for the next instead of publishing isolated pieces.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Voice fingerprint</a:t>
            </a:r>
          </a:p>
          <a:p>
            <a:pPr algn="l">
              <a:spcAft>
                <a:spcPts val="300"/>
              </a:spcAft>
            </a:pPr>
            <a:r>
              <a:rPr sz="1200" b="0">
                <a:solidFill>
                  <a:srgbClr val="5B6372"/>
                </a:solidFill>
                <a:latin typeface="Arial"/>
              </a:rPr>
              <a:t>Sentence rhythm, vocabulary, stance, examples, and boundaries make a draft sound like the real professional.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Content Creation and Personal Branding with AI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Creative brief</a:t>
            </a:r>
          </a:p>
          <a:p>
            <a:pPr algn="l">
              <a:spcAft>
                <a:spcPts val="300"/>
              </a:spcAft>
            </a:pPr>
            <a:r>
              <a:rPr sz="1200" b="0">
                <a:solidFill>
                  <a:srgbClr val="5B6372"/>
                </a:solidFill>
                <a:latin typeface="Arial"/>
              </a:rPr>
              <a:t>A visual or carousel starts with one message, a slide-by-slide hierarchy, accessibility, and rights checks.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Review before release</a:t>
            </a:r>
          </a:p>
          <a:p>
            <a:pPr algn="l">
              <a:spcAft>
                <a:spcPts val="300"/>
              </a:spcAft>
            </a:pPr>
            <a:r>
              <a:rPr sz="1200" b="0">
                <a:solidFill>
                  <a:srgbClr val="5B6372"/>
                </a:solidFill>
                <a:latin typeface="Arial"/>
              </a:rPr>
              <a:t>Fact, claim, voice, rights, confidentiality, and relevance checks occur before scheduling or publication.</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Audience-Value-Action Content Model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Useful LinkedIn content begins with the audience's professional question, not with a format or a request to promote an offer. The content provides one clear value unit such as a framework, interpretation, example, checklist, or informed point of view, then proposes a proportionate action.</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 post about procurement risk might explain three warning signs and invite readers to compare their own process. The call to action should match readiness: reflect, comment, save, read, follow, or begin a relevant conversation. A strong draft does not force every reader directly into a sales call.</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VISUAL FRAMEWORK</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The Audience-Value-Action Content Model — Concept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Audience question</a:t>
            </a:r>
          </a:p>
          <a:p>
            <a:pPr algn="l">
              <a:spcAft>
                <a:spcPts val="300"/>
              </a:spcAft>
            </a:pPr>
            <a:r>
              <a:rPr sz="1200" b="0">
                <a:solidFill>
                  <a:srgbClr val="5B6372"/>
                </a:solidFill>
                <a:latin typeface="Arial"/>
              </a:rPr>
              <a:t>What is the reader trying to decide or do?</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Value unit</a:t>
            </a:r>
          </a:p>
          <a:p>
            <a:pPr algn="l">
              <a:spcAft>
                <a:spcPts val="300"/>
              </a:spcAft>
            </a:pPr>
            <a:r>
              <a:rPr sz="1200" b="0">
                <a:solidFill>
                  <a:srgbClr val="5B6372"/>
                </a:solidFill>
                <a:latin typeface="Arial"/>
              </a:rPr>
              <a:t>What insight, example, or tool will help?</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Proof</a:t>
            </a:r>
          </a:p>
          <a:p>
            <a:pPr algn="l">
              <a:spcAft>
                <a:spcPts val="300"/>
              </a:spcAft>
            </a:pPr>
            <a:r>
              <a:rPr sz="1200" b="0">
                <a:solidFill>
                  <a:srgbClr val="5B6372"/>
                </a:solidFill>
                <a:latin typeface="Arial"/>
              </a:rPr>
              <a:t>Which approved evidence supports the point?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Proportionate action</a:t>
            </a:r>
          </a:p>
          <a:p>
            <a:pPr algn="l">
              <a:spcAft>
                <a:spcPts val="300"/>
              </a:spcAft>
            </a:pPr>
            <a:r>
              <a:rPr sz="1200" b="0">
                <a:solidFill>
                  <a:srgbClr val="5B6372"/>
                </a:solidFill>
                <a:latin typeface="Arial"/>
              </a:rPr>
              <a:t>What natural next step fits readiness?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Hooks, Bodies, and Credible Calls to Action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 hook creates a relevant information gap without exaggeration. It can name a costly misconception, a surprising but supported observation, a concrete problem, or a useful promise. The body must then pay off that promise with evidence, reasoning, and a practical takeaway.</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The close should not undermine trust with a generic pitch. It can invite a specific professional response, offer a useful resource, or name the next item in a series. Claims, client outcomes, and quotations must be traceable to approved sources before they appear in any draft.</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VISUAL FRAMEWORK</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Hooks, Bodies, and Credible Calls to Action — Concept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Hook</a:t>
            </a:r>
          </a:p>
          <a:p>
            <a:pPr algn="l">
              <a:spcAft>
                <a:spcPts val="300"/>
              </a:spcAft>
            </a:pPr>
            <a:r>
              <a:rPr sz="1200" b="0">
                <a:solidFill>
                  <a:srgbClr val="5B6372"/>
                </a:solidFill>
                <a:latin typeface="Arial"/>
              </a:rPr>
              <a:t>Earn attention with relevance, not clickbait.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Tension</a:t>
            </a:r>
          </a:p>
          <a:p>
            <a:pPr algn="l">
              <a:spcAft>
                <a:spcPts val="300"/>
              </a:spcAft>
            </a:pPr>
            <a:r>
              <a:rPr sz="1200" b="0">
                <a:solidFill>
                  <a:srgbClr val="5B6372"/>
                </a:solidFill>
                <a:latin typeface="Arial"/>
              </a:rPr>
              <a:t>Name the decision, misconception, or risk.</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Value</a:t>
            </a:r>
          </a:p>
          <a:p>
            <a:pPr algn="l">
              <a:spcAft>
                <a:spcPts val="300"/>
              </a:spcAft>
            </a:pPr>
            <a:r>
              <a:rPr sz="1200" b="0">
                <a:solidFill>
                  <a:srgbClr val="5B6372"/>
                </a:solidFill>
                <a:latin typeface="Arial"/>
              </a:rPr>
              <a:t>Deliver evidence, framework, or example.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Close</a:t>
            </a:r>
          </a:p>
          <a:p>
            <a:pPr algn="l">
              <a:spcAft>
                <a:spcPts val="300"/>
              </a:spcAft>
            </a:pPr>
            <a:r>
              <a:rPr sz="1200" b="0">
                <a:solidFill>
                  <a:srgbClr val="5B6372"/>
                </a:solidFill>
                <a:latin typeface="Arial"/>
              </a:rPr>
              <a:t>Invite a fitting response or next step.</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Choose the Right LinkedIn Format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 short post is suited to one focused idea; an article supports sustained reasoning; a document post can turn a framework into a swipeable sequence; an image can make a single relationship memorable; and video can demonstrate a process or point of view. Format follows the audience job.</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LinkedIn supports text, images, video, polls, events, documents, and articles. Interface details can change, so the workflow should store the content objective and source material independently of a specific button or layout. The human publisher verifies the current interface at release time.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VISUAL FRAMEWORK</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Choose the Right LinkedIn Format — Concept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Short post</a:t>
            </a:r>
          </a:p>
          <a:p>
            <a:pPr algn="l">
              <a:spcAft>
                <a:spcPts val="300"/>
              </a:spcAft>
            </a:pPr>
            <a:r>
              <a:rPr sz="1200" b="0">
                <a:solidFill>
                  <a:srgbClr val="5B6372"/>
                </a:solidFill>
                <a:latin typeface="Arial"/>
              </a:rPr>
              <a:t>One idea, fast context, discussion.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Article</a:t>
            </a:r>
          </a:p>
          <a:p>
            <a:pPr algn="l">
              <a:spcAft>
                <a:spcPts val="300"/>
              </a:spcAft>
            </a:pPr>
            <a:r>
              <a:rPr sz="1200" b="0">
                <a:solidFill>
                  <a:srgbClr val="5B6372"/>
                </a:solidFill>
                <a:latin typeface="Arial"/>
              </a:rPr>
              <a:t>Longer argument, evidence, and depth.</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Document/carousel</a:t>
            </a:r>
          </a:p>
          <a:p>
            <a:pPr algn="l">
              <a:spcAft>
                <a:spcPts val="300"/>
              </a:spcAft>
            </a:pPr>
            <a:r>
              <a:rPr sz="1200" b="0">
                <a:solidFill>
                  <a:srgbClr val="5B6372"/>
                </a:solidFill>
                <a:latin typeface="Arial"/>
              </a:rPr>
              <a:t>Sequenced framework or tutorial.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Image/video</a:t>
            </a:r>
          </a:p>
          <a:p>
            <a:pPr algn="l">
              <a:spcAft>
                <a:spcPts val="300"/>
              </a:spcAft>
            </a:pPr>
            <a:r>
              <a:rPr sz="1200" b="0">
                <a:solidFill>
                  <a:srgbClr val="5B6372"/>
                </a:solidFill>
                <a:latin typeface="Arial"/>
              </a:rPr>
              <a:t>Visual explanation, proof, or demonstration.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Voice Fingerprint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Authenticity can be specified. A voice fingerprint describes preferred vocabulary, sentence length, stance, level of formality, recurring examples, claims the author will not make, and words that feel unlike them. Approved writing samples are stronger evidence than vague labels such as professional or engaging.</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AI should propose alternatives, not erase the author's point of view. The owner compares the draft with the voice fingerprint, rewrites at least one passage, and records why. This review loop gradually improves the instruction set without pretending the model has become the person.</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VISUAL FRAMEWORK</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Voice Fingerprint — Concept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Sound</a:t>
            </a:r>
          </a:p>
          <a:p>
            <a:pPr algn="l">
              <a:spcAft>
                <a:spcPts val="300"/>
              </a:spcAft>
            </a:pPr>
            <a:r>
              <a:rPr sz="1200" b="0">
                <a:solidFill>
                  <a:srgbClr val="5B6372"/>
                </a:solidFill>
                <a:latin typeface="Arial"/>
              </a:rPr>
              <a:t>Rhythm, formality, and preferred vocabulary.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Substance</a:t>
            </a:r>
          </a:p>
          <a:p>
            <a:pPr algn="l">
              <a:spcAft>
                <a:spcPts val="300"/>
              </a:spcAft>
            </a:pPr>
            <a:r>
              <a:rPr sz="1200" b="0">
                <a:solidFill>
                  <a:srgbClr val="5B6372"/>
                </a:solidFill>
                <a:latin typeface="Arial"/>
              </a:rPr>
              <a:t>Point of view, examples, and evidence style.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Boundaries</a:t>
            </a:r>
          </a:p>
          <a:p>
            <a:pPr algn="l">
              <a:spcAft>
                <a:spcPts val="300"/>
              </a:spcAft>
            </a:pPr>
            <a:r>
              <a:rPr sz="1200" b="0">
                <a:solidFill>
                  <a:srgbClr val="5B6372"/>
                </a:solidFill>
                <a:latin typeface="Arial"/>
              </a:rPr>
              <a:t>Banned clichés, unsupported claims, private topics.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Human edit</a:t>
            </a:r>
          </a:p>
          <a:p>
            <a:pPr algn="l">
              <a:spcAft>
                <a:spcPts val="300"/>
              </a:spcAft>
            </a:pPr>
            <a:r>
              <a:rPr sz="1200" b="0">
                <a:solidFill>
                  <a:srgbClr val="5B6372"/>
                </a:solidFill>
                <a:latin typeface="Arial"/>
              </a:rPr>
              <a:t>Owner restores nuance and accountability.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Content Calendar as a Learning Sequence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 content calendar is a hypothesis about how ideas compound. It balances content pillars, audience stages, formats, evidence availability, and production capacity. Each item has an objective, owner, source, review status, planned date, and intended measurement.</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The calendar should preserve slack for timely responses and should not automate publication simply because a date arrived. LinkedIn's native scheduler can hold approved posts, but the final owner still reviews facts, tone, links, media, audience, and timing before scheduling.</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VISUAL FRAMEWORK</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Content Calendar as a Learning Sequence — Concept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Plan</a:t>
            </a:r>
          </a:p>
          <a:p>
            <a:pPr algn="l">
              <a:spcAft>
                <a:spcPts val="300"/>
              </a:spcAft>
            </a:pPr>
            <a:r>
              <a:rPr sz="1200" b="0">
                <a:solidFill>
                  <a:srgbClr val="5B6372"/>
                </a:solidFill>
                <a:latin typeface="Arial"/>
              </a:rPr>
              <a:t>Pillar, audience stage, value, format, source.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Create</a:t>
            </a:r>
          </a:p>
          <a:p>
            <a:pPr algn="l">
              <a:spcAft>
                <a:spcPts val="300"/>
              </a:spcAft>
            </a:pPr>
            <a:r>
              <a:rPr sz="1200" b="0">
                <a:solidFill>
                  <a:srgbClr val="5B6372"/>
                </a:solidFill>
                <a:latin typeface="Arial"/>
              </a:rPr>
              <a:t>Draft copy and visual direction.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Review</a:t>
            </a:r>
          </a:p>
          <a:p>
            <a:pPr algn="l">
              <a:spcAft>
                <a:spcPts val="300"/>
              </a:spcAft>
            </a:pPr>
            <a:r>
              <a:rPr sz="1200" b="0">
                <a:solidFill>
                  <a:srgbClr val="5B6372"/>
                </a:solidFill>
                <a:latin typeface="Arial"/>
              </a:rPr>
              <a:t>Fact, voice, rights, privacy, and relevance.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Schedule &amp; learn</a:t>
            </a:r>
          </a:p>
          <a:p>
            <a:pPr algn="l">
              <a:spcAft>
                <a:spcPts val="300"/>
              </a:spcAft>
            </a:pPr>
            <a:r>
              <a:rPr sz="1200" b="0">
                <a:solidFill>
                  <a:srgbClr val="5B6372"/>
                </a:solidFill>
                <a:latin typeface="Arial"/>
              </a:rPr>
              <a:t>Human schedules; metrics inform the next cycle.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Content Creation and Personal Branding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Create the LinkedIn Voice, Profile, and Multi-Format Content Kit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Fourteen-Day Content Calendar and Draft-First Workflow</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Create the LinkedIn Voice, Profile, and Multi-Format Content 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build a recognisable content foundation for Northstar Advisory using the same audience value, proof, and action defined in Labs 1 and 2. The AI produces alternatives, while you restore the human point of view and verify every claim, example, quotation, and visual direction.</a:t>
            </a:r>
          </a:p>
        </p:txBody>
      </p:sp>
      <p:sp>
        <p:nvSpPr>
          <p:cNvPr id="10" name="Rectangle 9"/>
          <p:cNvSpPr/>
          <p:nvPr/>
        </p:nvSpPr>
        <p:spPr>
          <a:xfrm>
            <a:off x="777240" y="3886200"/>
            <a:ext cx="10698480" cy="2057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41648"/>
            <a:ext cx="10058400" cy="274320"/>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325112"/>
            <a:ext cx="10058400" cy="804672"/>
          </a:xfrm>
          <a:prstGeom prst="rect">
            <a:avLst/>
          </a:prstGeom>
          <a:noFill/>
        </p:spPr>
        <p:txBody>
          <a:bodyPr wrap="square" anchor="t">
            <a:spAutoFit/>
          </a:bodyPr>
          <a:lstStyle/>
          <a:p>
            <a:pPr algn="l">
              <a:spcAft>
                <a:spcPts val="200"/>
              </a:spcAft>
            </a:pPr>
            <a:r>
              <a:rPr sz="1400" b="1">
                <a:solidFill>
                  <a:srgbClr val="161B26"/>
                </a:solidFill>
                <a:latin typeface="Arial"/>
              </a:rPr>
              <a:t>C386-linkedin-pack/03-profile-voice-and-content-kit.md containing the voice fingerprint, reviewed headline and About drafts, four post concepts, one article outline, one six-page carousel brief, evidence maps, and review log.</a:t>
            </a:r>
          </a:p>
        </p:txBody>
      </p:sp>
      <p:sp>
        <p:nvSpPr>
          <p:cNvPr id="13" name="TextBox 12"/>
          <p:cNvSpPr txBox="1"/>
          <p:nvPr/>
        </p:nvSpPr>
        <p:spPr>
          <a:xfrm>
            <a:off x="1005840" y="5321808"/>
            <a:ext cx="10241280" cy="384048"/>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Approved AI assistant, text editor, Labs 1-2 outputs and supplied writing samples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Create the LinkedIn Voice, Profile, and Multi-Format Content 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2</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Derive a voice fingerprint and profile draft from approved writing samples, value, and proof - then let the owner restore nuance.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SOURCE PATTERN -&gt; AI ALTERNATIVES -&gt; HUMAN VOICE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Create the LinkedIn Voice, Profile, and Multi-Format Content 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2</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Build posts, article structure, and carousel as one evidence-linked content kit with fact, voice, privacy, rights, and relevance checks.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HOOK -&gt; VALUE -&gt; PROOF -&gt; PROPORTIONATE ACTION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Create the LinkedIn Voice, Profile, and Multi-Format Content 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Open 03-profile-voice-and-content-kit.md. It must contain eight voice dimensions, three headline options, one About draft, four complete post drafts, an article outline, and a six-page carousel brief. Every factual claim must map to an approved source or be removed, each draft must contain a documented human edit, and no item may be marked for publication.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the Fourteen-Day Content Calendar and Draft-First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turn the reviewed content kit into a two-week learning sequence rather than a queue of unrelated posts. You define dependencies, owners, source freshness, review gates, native-scheduling handoff, exception paths, and the signals that will inform the next cycle.</a:t>
            </a:r>
          </a:p>
        </p:txBody>
      </p:sp>
      <p:sp>
        <p:nvSpPr>
          <p:cNvPr id="10" name="Rectangle 9"/>
          <p:cNvSpPr/>
          <p:nvPr/>
        </p:nvSpPr>
        <p:spPr>
          <a:xfrm>
            <a:off x="777240" y="3886200"/>
            <a:ext cx="10698480" cy="2057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41648"/>
            <a:ext cx="10058400" cy="274320"/>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325112"/>
            <a:ext cx="10058400" cy="804672"/>
          </a:xfrm>
          <a:prstGeom prst="rect">
            <a:avLst/>
          </a:prstGeom>
          <a:noFill/>
        </p:spPr>
        <p:txBody>
          <a:bodyPr wrap="square" anchor="t">
            <a:spAutoFit/>
          </a:bodyPr>
          <a:lstStyle/>
          <a:p>
            <a:pPr algn="l">
              <a:spcAft>
                <a:spcPts val="200"/>
              </a:spcAft>
            </a:pPr>
            <a:r>
              <a:rPr sz="1400" b="1">
                <a:solidFill>
                  <a:srgbClr val="161B26"/>
                </a:solidFill>
                <a:latin typeface="Arial"/>
              </a:rPr>
              <a:t>C386-linkedin-pack/04-content-calendar-and-workflow.md with a fourteen-day calendar, content dependencies, production board, approval packet, native-scheduling checklist, exception routes, and readiness test.</a:t>
            </a:r>
          </a:p>
        </p:txBody>
      </p:sp>
      <p:sp>
        <p:nvSpPr>
          <p:cNvPr id="13" name="TextBox 12"/>
          <p:cNvSpPr txBox="1"/>
          <p:nvPr/>
        </p:nvSpPr>
        <p:spPr>
          <a:xfrm>
            <a:off x="1005840" y="5321808"/>
            <a:ext cx="10241280" cy="384048"/>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Approved AI assistant, text editor or spreadsheet, Labs 1-3 outputs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the Fourteen-Day Content Calendar and Draft-First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2</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Sequence reviewed artefacts by audience question and learning dependency, with a source, owner, review date, action, and metric for every row.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CONTENT KIT -&gt; FOURTEEN-DAY LEARNING SEQUENCE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the Fourteen-Day Content Calendar and Draft-First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2</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Move each item through explicit states and a complete approval packet; hand approved drafts to a human using LinkedIn's native scheduler.</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DRAFT -&gt; CHECK -&gt; APPROVE -&gt; HUMAN SCHEDULE -&gt; OBSERVE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the Fourteen-Day Content Calendar and Draft-First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Open 04-content-calendar-and-workflow.md. The calendar must cover fourteen days, include all six reviewed artefacts plus two engagement days, name a source and owner for every planned item, and use the defined production states. Fixed rows Day 2, Day 7, and Day 12 must trace through a complete review packet to either READY FOR HUMAN SCHEDULING or a specific HOLD reason; the change-evidence table must capture corrections, and no automated publication or live engagement action may exist.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Content Creation and Personal Branding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LO2, LO3: Apply the prompt contract to create an evidence-grounded profile draft, voice fingerprint, posts, article outline, and carousel brief.</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LO3, LO5: Sequence the content kit into a coherent calendar and design a governed workflow from intake through human scheduling and learning.</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Lead Generation and Outreach with AI Agents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Prospect research | segmentation | personalised invitations and messages | nurture sequences | social-selling etiquette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Lead Generation and Outreach with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Authorised evidence</a:t>
            </a:r>
          </a:p>
          <a:p>
            <a:pPr algn="l">
              <a:spcAft>
                <a:spcPts val="300"/>
              </a:spcAft>
            </a:pPr>
            <a:r>
              <a:rPr sz="1200" b="0">
                <a:solidFill>
                  <a:srgbClr val="5B6372"/>
                </a:solidFill>
                <a:latin typeface="Arial"/>
              </a:rPr>
              <a:t>Use supplied, consented, or legitimately accessible information; never scrape profiles or infer sensitive traits.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Ideal-customer criteria</a:t>
            </a:r>
          </a:p>
          <a:p>
            <a:pPr algn="l">
              <a:spcAft>
                <a:spcPts val="300"/>
              </a:spcAft>
            </a:pPr>
            <a:r>
              <a:rPr sz="1200" b="0">
                <a:solidFill>
                  <a:srgbClr val="5B6372"/>
                </a:solidFill>
                <a:latin typeface="Arial"/>
              </a:rPr>
              <a:t>Segment by relevant business context, need, fit, timing, and relationship evidence rather than surface popularity.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Reason to connect</a:t>
            </a:r>
          </a:p>
          <a:p>
            <a:pPr algn="l">
              <a:spcAft>
                <a:spcPts val="300"/>
              </a:spcAft>
            </a:pPr>
            <a:r>
              <a:rPr sz="1200" b="0">
                <a:solidFill>
                  <a:srgbClr val="5B6372"/>
                </a:solidFill>
                <a:latin typeface="Arial"/>
              </a:rPr>
              <a:t>A message earns attention by naming genuine context and a relevant professional reason.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Personalisation</a:t>
            </a:r>
          </a:p>
          <a:p>
            <a:pPr algn="l">
              <a:spcAft>
                <a:spcPts val="300"/>
              </a:spcAft>
            </a:pPr>
            <a:r>
              <a:rPr sz="1200" b="0">
                <a:solidFill>
                  <a:srgbClr val="5B6372"/>
                </a:solidFill>
                <a:latin typeface="Arial"/>
              </a:rPr>
              <a:t>Use only a small number of verified details; do not create false familiarity or pretend an event occurred.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Invitation etiquette</a:t>
            </a:r>
          </a:p>
          <a:p>
            <a:pPr algn="l">
              <a:spcAft>
                <a:spcPts val="300"/>
              </a:spcAft>
            </a:pPr>
            <a:r>
              <a:rPr sz="1200" b="0">
                <a:solidFill>
                  <a:srgbClr val="5B6372"/>
                </a:solidFill>
                <a:latin typeface="Arial"/>
              </a:rPr>
              <a:t>Quality and recognisability matter more than volume; excessive or unwanted invitations can restrict an account.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Nurture progression</a:t>
            </a:r>
          </a:p>
          <a:p>
            <a:pPr algn="l">
              <a:spcAft>
                <a:spcPts val="300"/>
              </a:spcAft>
            </a:pPr>
            <a:r>
              <a:rPr sz="1200" b="0">
                <a:solidFill>
                  <a:srgbClr val="5B6372"/>
                </a:solidFill>
                <a:latin typeface="Arial"/>
              </a:rPr>
              <a:t>Each touch adds new value and gives the recipient an easy way to decline or disengage.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Lead Generation and Outreach with AI Agents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Intent and risk</a:t>
            </a:r>
          </a:p>
          <a:p>
            <a:pPr algn="l">
              <a:spcAft>
                <a:spcPts val="300"/>
              </a:spcAft>
            </a:pPr>
            <a:r>
              <a:rPr sz="1200" b="0">
                <a:solidFill>
                  <a:srgbClr val="5B6372"/>
                </a:solidFill>
                <a:latin typeface="Arial"/>
              </a:rPr>
              <a:t>Questions, objections, complaints, privacy requests, and sensitive topics require different handling and escalation.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Human send</a:t>
            </a:r>
          </a:p>
          <a:p>
            <a:pPr algn="l">
              <a:spcAft>
                <a:spcPts val="300"/>
              </a:spcAft>
            </a:pPr>
            <a:r>
              <a:rPr sz="1200" b="0">
                <a:solidFill>
                  <a:srgbClr val="5B6372"/>
                </a:solidFill>
                <a:latin typeface="Arial"/>
              </a:rPr>
              <a:t>The agent drafts and prioritises; the account owner checks the recipient, context, wording, and timing before sending.</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Evidence-Based Prospecting Without Scraping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Prospect research begins with an ideal-customer hypothesis and authorised evidence. Useful fields include organisation type, role relevance, publicly stated business context, relationship path, observed need, source, date, confidence, and an explicit reason to engage.</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The workflow must not use scripts, browser extensions, or bots to copy LinkedIn profiles or activity. LinkedIn's User Agreement prohibits scraping and unauthorised automated access. In this course, all prospect work uses synthetic records so learners can practise segmentation without processing a real person's data.</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VISUAL FRAMEWORK</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Evidence-Based Prospecting Without Scraping — Concept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Criteria</a:t>
            </a:r>
          </a:p>
          <a:p>
            <a:pPr algn="l">
              <a:spcAft>
                <a:spcPts val="300"/>
              </a:spcAft>
            </a:pPr>
            <a:r>
              <a:rPr sz="1200" b="0">
                <a:solidFill>
                  <a:srgbClr val="5B6372"/>
                </a:solidFill>
                <a:latin typeface="Arial"/>
              </a:rPr>
              <a:t>Role, organisation, need, fit, timing.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Source</a:t>
            </a:r>
          </a:p>
          <a:p>
            <a:pPr algn="l">
              <a:spcAft>
                <a:spcPts val="300"/>
              </a:spcAft>
            </a:pPr>
            <a:r>
              <a:rPr sz="1200" b="0">
                <a:solidFill>
                  <a:srgbClr val="5B6372"/>
                </a:solidFill>
                <a:latin typeface="Arial"/>
              </a:rPr>
              <a:t>Authorised record with date and provenance.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Confidence</a:t>
            </a:r>
          </a:p>
          <a:p>
            <a:pPr algn="l">
              <a:spcAft>
                <a:spcPts val="300"/>
              </a:spcAft>
            </a:pPr>
            <a:r>
              <a:rPr sz="1200" b="0">
                <a:solidFill>
                  <a:srgbClr val="5B6372"/>
                </a:solidFill>
                <a:latin typeface="Arial"/>
              </a:rPr>
              <a:t>Observed fact, supported inference, or unknown.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Reason</a:t>
            </a:r>
          </a:p>
          <a:p>
            <a:pPr algn="l">
              <a:spcAft>
                <a:spcPts val="300"/>
              </a:spcAft>
            </a:pPr>
            <a:r>
              <a:rPr sz="1200" b="0">
                <a:solidFill>
                  <a:srgbClr val="5B6372"/>
                </a:solidFill>
                <a:latin typeface="Arial"/>
              </a:rPr>
              <a:t>A relevant, professional basis for engagement.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Segmentation as a Decision Rule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 segment is useful when it changes the next action. A simple decision table can combine fit, evidence strength, relationship context, urgency, and risk to produce PRIORITISE, NURTURE, HOLD, or DO NOT CONTACT. The rule should be explainable and reversible.</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AI may summarise or apply the rule, but it should not invent missing attributes or infer protected or sensitive characteristics. Low confidence should lower the action, not trigger more aggressive data collection.</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VISUAL FRAMEWORK</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Segmentation as a Decision Rule — Concept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Prioritise</a:t>
            </a:r>
          </a:p>
          <a:p>
            <a:pPr algn="l">
              <a:spcAft>
                <a:spcPts val="300"/>
              </a:spcAft>
            </a:pPr>
            <a:r>
              <a:rPr sz="1200" b="0">
                <a:solidFill>
                  <a:srgbClr val="5B6372"/>
                </a:solidFill>
                <a:latin typeface="Arial"/>
              </a:rPr>
              <a:t>Strong fit, relevant context, adequate evidence.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Nurture</a:t>
            </a:r>
          </a:p>
          <a:p>
            <a:pPr algn="l">
              <a:spcAft>
                <a:spcPts val="300"/>
              </a:spcAft>
            </a:pPr>
            <a:r>
              <a:rPr sz="1200" b="0">
                <a:solidFill>
                  <a:srgbClr val="5B6372"/>
                </a:solidFill>
                <a:latin typeface="Arial"/>
              </a:rPr>
              <a:t>Potential fit, value can be offered without pressure.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Hold</a:t>
            </a:r>
          </a:p>
          <a:p>
            <a:pPr algn="l">
              <a:spcAft>
                <a:spcPts val="300"/>
              </a:spcAft>
            </a:pPr>
            <a:r>
              <a:rPr sz="1200" b="0">
                <a:solidFill>
                  <a:srgbClr val="5B6372"/>
                </a:solidFill>
                <a:latin typeface="Arial"/>
              </a:rPr>
              <a:t>Missing evidence, weak timing, or owner review needed.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Do not contact</a:t>
            </a:r>
          </a:p>
          <a:p>
            <a:pPr algn="l">
              <a:spcAft>
                <a:spcPts val="300"/>
              </a:spcAft>
            </a:pPr>
            <a:r>
              <a:rPr sz="1200" b="0">
                <a:solidFill>
                  <a:srgbClr val="5B6372"/>
                </a:solidFill>
                <a:latin typeface="Arial"/>
              </a:rPr>
              <a:t>No relevant reason, opt-out, or unacceptable risk.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Relevance Ladder for Outreach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Personalisation is not inserting a first name into a generic pitch. Relevance grows from identity, to genuine context, to a specific professional reason, to useful value, and only then to a low-friction next step. Each rung must be true and appropriate to use.</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If the only available detail is a job title, the message should remain modest. The agent must not fabricate a shared interest, praise content it has not been given, or imply that it reviewed private activity.</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VISUAL FRAMEWORK</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The Relevance Ladder for Outreach — Concept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Identity</a:t>
            </a:r>
          </a:p>
          <a:p>
            <a:pPr algn="l">
              <a:spcAft>
                <a:spcPts val="300"/>
              </a:spcAft>
            </a:pPr>
            <a:r>
              <a:rPr sz="1200" b="0">
                <a:solidFill>
                  <a:srgbClr val="5B6372"/>
                </a:solidFill>
                <a:latin typeface="Arial"/>
              </a:rPr>
              <a:t>Correct person and role.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Context</a:t>
            </a:r>
          </a:p>
          <a:p>
            <a:pPr algn="l">
              <a:spcAft>
                <a:spcPts val="300"/>
              </a:spcAft>
            </a:pPr>
            <a:r>
              <a:rPr sz="1200" b="0">
                <a:solidFill>
                  <a:srgbClr val="5B6372"/>
                </a:solidFill>
                <a:latin typeface="Arial"/>
              </a:rPr>
              <a:t>A verified shared event, topic, or business situation.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Value</a:t>
            </a:r>
          </a:p>
          <a:p>
            <a:pPr algn="l">
              <a:spcAft>
                <a:spcPts val="300"/>
              </a:spcAft>
            </a:pPr>
            <a:r>
              <a:rPr sz="1200" b="0">
                <a:solidFill>
                  <a:srgbClr val="5B6372"/>
                </a:solidFill>
                <a:latin typeface="Arial"/>
              </a:rPr>
              <a:t>A relevant idea, question, or resource.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Next step</a:t>
            </a:r>
          </a:p>
          <a:p>
            <a:pPr algn="l">
              <a:spcAft>
                <a:spcPts val="300"/>
              </a:spcAft>
            </a:pPr>
            <a:r>
              <a:rPr sz="1200" b="0">
                <a:solidFill>
                  <a:srgbClr val="5B6372"/>
                </a:solidFill>
                <a:latin typeface="Arial"/>
              </a:rPr>
              <a:t>A small, optional action with no pressure.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Connection, Message, and Nurture Sequence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 connection invitation explains who the sender is and why the connection is relevant. After acceptance, a first message should continue the context rather than immediately switch to a hard pitch. Later touches should add distinct value and stop when the recipient declines, does not engage, or the evidence becomes stale.</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LinkedIn places limits and restrictions on invitations to protect member experience, and advises context and personalisation. Exact product limits can vary by account and time. The workflow therefore never sets a volume target designed to evade restrictions; it emphasises quality, relevance, and owner judgement.</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VISUAL FRAMEWORK</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Connection, Message, and Nurture Sequence — Concept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Invite</a:t>
            </a:r>
          </a:p>
          <a:p>
            <a:pPr algn="l">
              <a:spcAft>
                <a:spcPts val="300"/>
              </a:spcAft>
            </a:pPr>
            <a:r>
              <a:rPr sz="1200" b="0">
                <a:solidFill>
                  <a:srgbClr val="5B6372"/>
                </a:solidFill>
                <a:latin typeface="Arial"/>
              </a:rPr>
              <a:t>Recognisable identity and genuine reason.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Welcome</a:t>
            </a:r>
          </a:p>
          <a:p>
            <a:pPr algn="l">
              <a:spcAft>
                <a:spcPts val="300"/>
              </a:spcAft>
            </a:pPr>
            <a:r>
              <a:rPr sz="1200" b="0">
                <a:solidFill>
                  <a:srgbClr val="5B6372"/>
                </a:solidFill>
                <a:latin typeface="Arial"/>
              </a:rPr>
              <a:t>Acknowledge acceptance; continue the context.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Value</a:t>
            </a:r>
          </a:p>
          <a:p>
            <a:pPr algn="l">
              <a:spcAft>
                <a:spcPts val="300"/>
              </a:spcAft>
            </a:pPr>
            <a:r>
              <a:rPr sz="1200" b="0">
                <a:solidFill>
                  <a:srgbClr val="5B6372"/>
                </a:solidFill>
                <a:latin typeface="Arial"/>
              </a:rPr>
              <a:t>Share one useful insight or ask a relevant question.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Stop or hand off</a:t>
            </a:r>
          </a:p>
          <a:p>
            <a:pPr algn="l">
              <a:spcAft>
                <a:spcPts val="300"/>
              </a:spcAft>
            </a:pPr>
            <a:r>
              <a:rPr sz="1200" b="0">
                <a:solidFill>
                  <a:srgbClr val="5B6372"/>
                </a:solidFill>
                <a:latin typeface="Arial"/>
              </a:rPr>
              <a:t>Respect no response, decline, risk, or live interest.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Social-Selling Etiquette and Escalation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Professional outreach protects the recipient's agency. Messages are accurate, concise, specific, and easy to ignore or decline. The sender does not create false urgency, disguise commercial intent, repeat unanswered requests indefinitely, or move personal data into unapproved tools.</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Escalation is part of the workflow. Legal questions, privacy requests, complaints, sensitive personal circumstances, high-value commercial commitments, and requests outside the sender's authority go to a named human owner with the original context preserved.</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VISUAL FRAMEWORK</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Social-Selling Etiquette and Escalation — Concept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Relevant</a:t>
            </a:r>
          </a:p>
          <a:p>
            <a:pPr algn="l">
              <a:spcAft>
                <a:spcPts val="300"/>
              </a:spcAft>
            </a:pPr>
            <a:r>
              <a:rPr sz="1200" b="0">
                <a:solidFill>
                  <a:srgbClr val="5B6372"/>
                </a:solidFill>
                <a:latin typeface="Arial"/>
              </a:rPr>
              <a:t>Clear professional reason and audience value.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Respectful</a:t>
            </a:r>
          </a:p>
          <a:p>
            <a:pPr algn="l">
              <a:spcAft>
                <a:spcPts val="300"/>
              </a:spcAft>
            </a:pPr>
            <a:r>
              <a:rPr sz="1200" b="0">
                <a:solidFill>
                  <a:srgbClr val="5B6372"/>
                </a:solidFill>
                <a:latin typeface="Arial"/>
              </a:rPr>
              <a:t>No pressure, deception, or false familiarity.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Bounded</a:t>
            </a:r>
          </a:p>
          <a:p>
            <a:pPr algn="l">
              <a:spcAft>
                <a:spcPts val="300"/>
              </a:spcAft>
            </a:pPr>
            <a:r>
              <a:rPr sz="1200" b="0">
                <a:solidFill>
                  <a:srgbClr val="5B6372"/>
                </a:solidFill>
                <a:latin typeface="Arial"/>
              </a:rPr>
              <a:t>Limited sequence with stop conditions.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Escalated</a:t>
            </a:r>
          </a:p>
          <a:p>
            <a:pPr algn="l">
              <a:spcAft>
                <a:spcPts val="300"/>
              </a:spcAft>
            </a:pPr>
            <a:r>
              <a:rPr sz="1200" b="0">
                <a:solidFill>
                  <a:srgbClr val="5B6372"/>
                </a:solidFill>
                <a:latin typeface="Arial"/>
              </a:rPr>
              <a:t>Sensitive or high-impact cases go to the owner.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Lead Generation and Outreach with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5</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Evidence-Based Prospect Segmentation Queue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6</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Draft the Personalised Connection and Nurture Sequence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Evidence-Based Prospect Segmentation Queue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define what a relevant prospect looks like, inspect the supplied synthetic records, and build an explainable decision table. The agent may summarise and apply the rule, but it must preserve provenance, label uncertainty, avoid sensitive inference, and never access LinkedIn or enrich a record automatically.</a:t>
            </a:r>
          </a:p>
        </p:txBody>
      </p:sp>
      <p:sp>
        <p:nvSpPr>
          <p:cNvPr id="10" name="Rectangle 9"/>
          <p:cNvSpPr/>
          <p:nvPr/>
        </p:nvSpPr>
        <p:spPr>
          <a:xfrm>
            <a:off x="777240" y="3886200"/>
            <a:ext cx="10698480" cy="2057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41648"/>
            <a:ext cx="10058400" cy="274320"/>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325112"/>
            <a:ext cx="10058400" cy="804672"/>
          </a:xfrm>
          <a:prstGeom prst="rect">
            <a:avLst/>
          </a:prstGeom>
          <a:noFill/>
        </p:spPr>
        <p:txBody>
          <a:bodyPr wrap="square" anchor="t">
            <a:spAutoFit/>
          </a:bodyPr>
          <a:lstStyle/>
          <a:p>
            <a:pPr algn="l">
              <a:spcAft>
                <a:spcPts val="200"/>
              </a:spcAft>
            </a:pPr>
            <a:r>
              <a:rPr sz="1400" b="1">
                <a:solidFill>
                  <a:srgbClr val="161B26"/>
                </a:solidFill>
                <a:latin typeface="Arial"/>
              </a:rPr>
              <a:t>C386-linkedin-pack/05-prospect-segmentation-queue.md with ideal-customer criteria, data dictionary, evidence register, scoring rule, segmented queue, quality checks, exclusions, and human-review log.</a:t>
            </a:r>
          </a:p>
        </p:txBody>
      </p:sp>
      <p:sp>
        <p:nvSpPr>
          <p:cNvPr id="13" name="TextBox 12"/>
          <p:cNvSpPr txBox="1"/>
          <p:nvPr/>
        </p:nvSpPr>
        <p:spPr>
          <a:xfrm>
            <a:off x="1005840" y="5321808"/>
            <a:ext cx="10241280" cy="384048"/>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Approved AI assistant, spreadsheet or text editor, supplied synthetic prospect CSV and earlier foundation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Evidence-Based Prospect Segmentation Queue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2</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Define ideal-customer criteria, authorised fields, hard stops, and an explainable decision order before asking AI to segment anything.</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HARD STOP -&gt; EVIDENCE -&gt; FIT -&gt; CONTEXT -&gt; TIMING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Evidence-Based Prospect Segmentation Queue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2</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Apply the rule to synthetic records, validate every decision, and hand only relevant, verified rows to a human-reviewed message-drafting queue.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PRIORITISE / NURTURE / HOLD / DO NOT CONTACT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Evidence-Based Prospect Segmentation Queue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Open 05-prospect-segmentation-queue.md. It must define all eleven fields, contain a quality result for every synthetic record, preserve all hard stops, and give every decision a field-level rationale. Apply the written rule manually to the fixed fixtures P-001 (PRIORITISE), P-004 (NURTURE), P-003 (HOLD), and P-007 (DO NOT CONTACT); the same inputs must produce those decisions. HOLD and DO NOT CONTACT must show reason-to-engage as NOT PERMITTED, and no row may contain scraped, enriched, real, or sensitive information.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the Personalised Connection and Nurture Sequence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turn approved synthetic queue records into a bounded communication sequence. Each draft uses verified context, adds distinct value, avoids false familiarity and pressure, and stops on no response, decline, uncertainty, privacy concern, or relationship risk.</a:t>
            </a:r>
          </a:p>
        </p:txBody>
      </p:sp>
      <p:sp>
        <p:nvSpPr>
          <p:cNvPr id="10" name="Rectangle 9"/>
          <p:cNvSpPr/>
          <p:nvPr/>
        </p:nvSpPr>
        <p:spPr>
          <a:xfrm>
            <a:off x="777240" y="3886200"/>
            <a:ext cx="10698480" cy="2057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41648"/>
            <a:ext cx="10058400" cy="274320"/>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325112"/>
            <a:ext cx="10058400" cy="804672"/>
          </a:xfrm>
          <a:prstGeom prst="rect">
            <a:avLst/>
          </a:prstGeom>
          <a:noFill/>
        </p:spPr>
        <p:txBody>
          <a:bodyPr wrap="square" anchor="t">
            <a:spAutoFit/>
          </a:bodyPr>
          <a:lstStyle/>
          <a:p>
            <a:pPr algn="l">
              <a:spcAft>
                <a:spcPts val="200"/>
              </a:spcAft>
            </a:pPr>
            <a:r>
              <a:rPr sz="1400" b="1">
                <a:solidFill>
                  <a:srgbClr val="161B26"/>
                </a:solidFill>
                <a:latin typeface="Arial"/>
              </a:rPr>
              <a:t>C386-linkedin-pack/06-outreach-and-nurture-sequence.md with invitation, welcome, value, and handoff drafts for approved synthetic segments; an evidence map; message checks; stop conditions; and a send-decision log.</a:t>
            </a:r>
          </a:p>
        </p:txBody>
      </p:sp>
      <p:sp>
        <p:nvSpPr>
          <p:cNvPr id="13" name="TextBox 12"/>
          <p:cNvSpPr txBox="1"/>
          <p:nvPr/>
        </p:nvSpPr>
        <p:spPr>
          <a:xfrm>
            <a:off x="1005840" y="5321808"/>
            <a:ext cx="10241280" cy="384048"/>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Approved AI assistant, text editor, Lab 5 queue and supplied synthetic message scenarios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the Personalised Connection and Nurture Sequence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2</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Build each draft up the relevance ladder using only verified identity and context, a professional reason, useful value, and a low-friction next step.</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IDENTITY -&gt; CONTEXT -&gt; REASON -&gt; VALUE -&gt; NEXT STEP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the Personalised Connection and Nurture Sequence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2</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Route every scenario through etiquette, privacy, stop, and escalation rules; a human verifies the recipient and decides whether a draft is ever sent.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DRAFT RESPONSE / WAIT / STOP / ESCALATE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the Personalised Connection and Nurture Sequence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Open 06-outreach-and-nurture-sequence.md. Each approved segment must have an invitation, post-acceptance welcome, value follow-up, and optional handoff with a complete evidence map. All seven fixed scenarios MS-01 through MS-07 must have a safe state plus a separate escalation action, reason, and owner. MS-05 must be STOP plus ESCALATE TO PRIVACY OWNER; declined, deletion, disputed, sensitive, and silent cases must not continue automatically. The Send-Decision Log must show no message was sent in the lab.</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Lead Generation and Outreach with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LO4: Apply transparent fit, evidence, relationship, timing, and risk rules to authorised synthetic prospect records without scraping or sensitive inference.</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LO4, LO5: Create concise, relevant, evidence-linked outreach drafts with etiquette rules, stop conditions, privacy protection, and human sending authority.</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Automating and Scaling LinkedIn with AI Agents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Agentic content and engagement workflows | scheduling and follow-up | measurement | responsible scale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Automating and Scaling LinkedIn with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Workflow states</a:t>
            </a:r>
          </a:p>
          <a:p>
            <a:pPr algn="l">
              <a:spcAft>
                <a:spcPts val="300"/>
              </a:spcAft>
            </a:pPr>
            <a:r>
              <a:rPr sz="1200" b="0">
                <a:solidFill>
                  <a:srgbClr val="5B6372"/>
                </a:solidFill>
                <a:latin typeface="Arial"/>
              </a:rPr>
              <a:t>Intake, validate, draft, review, approve, schedule, observe, and learn are explicit states with owners.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Allowed automation</a:t>
            </a:r>
          </a:p>
          <a:p>
            <a:pPr algn="l">
              <a:spcAft>
                <a:spcPts val="300"/>
              </a:spcAft>
            </a:pPr>
            <a:r>
              <a:rPr sz="1200" b="0">
                <a:solidFill>
                  <a:srgbClr val="5B6372"/>
                </a:solidFill>
                <a:latin typeface="Arial"/>
              </a:rPr>
              <a:t>Automate internal preparation and analysis; use LinkedIn's authorised features or approved integrations for external actions.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Approval packet</a:t>
            </a:r>
          </a:p>
          <a:p>
            <a:pPr algn="l">
              <a:spcAft>
                <a:spcPts val="300"/>
              </a:spcAft>
            </a:pPr>
            <a:r>
              <a:rPr sz="1200" b="0">
                <a:solidFill>
                  <a:srgbClr val="5B6372"/>
                </a:solidFill>
                <a:latin typeface="Arial"/>
              </a:rPr>
              <a:t>The reviewer sees source evidence, draft, checks, risks, intended audience, and proposed action in one place.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Operational trace</a:t>
            </a:r>
          </a:p>
          <a:p>
            <a:pPr algn="l">
              <a:spcAft>
                <a:spcPts val="300"/>
              </a:spcAft>
            </a:pPr>
            <a:r>
              <a:rPr sz="1200" b="0">
                <a:solidFill>
                  <a:srgbClr val="5B6372"/>
                </a:solidFill>
                <a:latin typeface="Arial"/>
              </a:rPr>
              <a:t>Every run records inputs, version, reviewer, decision, action, timestamp, and exception.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Metric definition</a:t>
            </a:r>
          </a:p>
          <a:p>
            <a:pPr algn="l">
              <a:spcAft>
                <a:spcPts val="300"/>
              </a:spcAft>
            </a:pPr>
            <a:r>
              <a:rPr sz="1200" b="0">
                <a:solidFill>
                  <a:srgbClr val="5B6372"/>
                </a:solidFill>
                <a:latin typeface="Arial"/>
              </a:rPr>
              <a:t>Impressions, reach, reactions, comments, reposts, saves, sends, profile viewers, and followers answer different questions.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Rates need denominators</a:t>
            </a:r>
          </a:p>
          <a:p>
            <a:pPr algn="l">
              <a:spcAft>
                <a:spcPts val="300"/>
              </a:spcAft>
            </a:pPr>
            <a:r>
              <a:rPr sz="1200" b="0">
                <a:solidFill>
                  <a:srgbClr val="5B6372"/>
                </a:solidFill>
                <a:latin typeface="Arial"/>
              </a:rPr>
              <a:t>Engagement and conversion rates are meaningful only when numerator, denominator, scope, and period are explicit.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Automating and Scaling LinkedIn with AI Agents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Diagnose before changing</a:t>
            </a:r>
          </a:p>
          <a:p>
            <a:pPr algn="l">
              <a:spcAft>
                <a:spcPts val="300"/>
              </a:spcAft>
            </a:pPr>
            <a:r>
              <a:rPr sz="1200" b="0">
                <a:solidFill>
                  <a:srgbClr val="5B6372"/>
                </a:solidFill>
                <a:latin typeface="Arial"/>
              </a:rPr>
              <a:t>Check data quality, audience mix, content, distribution, and downstream action before blaming the agent.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Bounded scale</a:t>
            </a:r>
          </a:p>
          <a:p>
            <a:pPr algn="l">
              <a:spcAft>
                <a:spcPts val="300"/>
              </a:spcAft>
            </a:pPr>
            <a:r>
              <a:rPr sz="1200" b="0">
                <a:solidFill>
                  <a:srgbClr val="5B6372"/>
                </a:solidFill>
                <a:latin typeface="Arial"/>
              </a:rPr>
              <a:t>Change one controlled variable, define a guardrail, owner, observation window, cooldown, and rollback.</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 Draft-First LinkedIn Operations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 governed workflow separates internal automation from external platform action. The agent can collect an approved brief, validate required fields, draft content or replies, run checks, and assemble a review packet. A human then approves, revises, or stops the item.</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External action uses LinkedIn's own features or an organisation-approved integration operating within current terms and permissions. Unauthorised bots that send messages, create engagement, or access the service are outside the workflow boundary.</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VISUAL FRAMEWORK</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 Draft-First LinkedIn Operations Workflow — Concept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Intake</a:t>
            </a:r>
          </a:p>
          <a:p>
            <a:pPr algn="l">
              <a:spcAft>
                <a:spcPts val="300"/>
              </a:spcAft>
            </a:pPr>
            <a:r>
              <a:rPr sz="1200" b="0">
                <a:solidFill>
                  <a:srgbClr val="5B6372"/>
                </a:solidFill>
                <a:latin typeface="Arial"/>
              </a:rPr>
              <a:t>Approved request, sources, owner, and due date.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Draft</a:t>
            </a:r>
          </a:p>
          <a:p>
            <a:pPr algn="l">
              <a:spcAft>
                <a:spcPts val="300"/>
              </a:spcAft>
            </a:pPr>
            <a:r>
              <a:rPr sz="1200" b="0">
                <a:solidFill>
                  <a:srgbClr val="5B6372"/>
                </a:solidFill>
                <a:latin typeface="Arial"/>
              </a:rPr>
              <a:t>Agent creates a structured internal artefact.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Review</a:t>
            </a:r>
          </a:p>
          <a:p>
            <a:pPr algn="l">
              <a:spcAft>
                <a:spcPts val="300"/>
              </a:spcAft>
            </a:pPr>
            <a:r>
              <a:rPr sz="1200" b="0">
                <a:solidFill>
                  <a:srgbClr val="5B6372"/>
                </a:solidFill>
                <a:latin typeface="Arial"/>
              </a:rPr>
              <a:t>Human checks evidence, voice, risk, and timing.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Release</a:t>
            </a:r>
          </a:p>
          <a:p>
            <a:pPr algn="l">
              <a:spcAft>
                <a:spcPts val="300"/>
              </a:spcAft>
            </a:pPr>
            <a:r>
              <a:rPr sz="1200" b="0">
                <a:solidFill>
                  <a:srgbClr val="5B6372"/>
                </a:solidFill>
                <a:latin typeface="Arial"/>
              </a:rPr>
              <a:t>Authorised feature executes; result is logged.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Approval Packet and Exception Path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Approval fails when the reviewer has to reconstruct the context. A compact packet includes the objective, intended audience, source links, draft, evaluation results, known unknowns, risk tier, proposed action, and rollback or correction path.</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Exceptions are normal. Missing evidence returns to intake; a policy concern stops the run; a voice mismatch returns for revision; an urgent complaint escalates to an owner. The workflow records why the path changed so later improvement is based on evidence.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VISUAL FRAMEWORK</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Approval Packet and Exception Path — Concept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Context</a:t>
            </a:r>
          </a:p>
          <a:p>
            <a:pPr algn="l">
              <a:spcAft>
                <a:spcPts val="300"/>
              </a:spcAft>
            </a:pPr>
            <a:r>
              <a:rPr sz="1200" b="0">
                <a:solidFill>
                  <a:srgbClr val="5B6372"/>
                </a:solidFill>
                <a:latin typeface="Arial"/>
              </a:rPr>
              <a:t>Goal, audience, source, owner.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Draft</a:t>
            </a:r>
          </a:p>
          <a:p>
            <a:pPr algn="l">
              <a:spcAft>
                <a:spcPts val="300"/>
              </a:spcAft>
            </a:pPr>
            <a:r>
              <a:rPr sz="1200" b="0">
                <a:solidFill>
                  <a:srgbClr val="5B6372"/>
                </a:solidFill>
                <a:latin typeface="Arial"/>
              </a:rPr>
              <a:t>Exact proposed post, message, or response.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Checks</a:t>
            </a:r>
          </a:p>
          <a:p>
            <a:pPr algn="l">
              <a:spcAft>
                <a:spcPts val="300"/>
              </a:spcAft>
            </a:pPr>
            <a:r>
              <a:rPr sz="1200" b="0">
                <a:solidFill>
                  <a:srgbClr val="5B6372"/>
                </a:solidFill>
                <a:latin typeface="Arial"/>
              </a:rPr>
              <a:t>Fact, voice, policy, privacy, rights, timing.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Decision</a:t>
            </a:r>
          </a:p>
          <a:p>
            <a:pPr algn="l">
              <a:spcAft>
                <a:spcPts val="300"/>
              </a:spcAft>
            </a:pPr>
            <a:r>
              <a:rPr sz="1200" b="0">
                <a:solidFill>
                  <a:srgbClr val="5B6372"/>
                </a:solidFill>
                <a:latin typeface="Arial"/>
              </a:rPr>
              <a:t>Approve, revise, stop, or escalate with reason.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LinkedIn Measurement Tree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Discovery metrics describe exposure; engagement metrics describe interaction; profile activity describes movement toward the professional identity; and business outcomes describe what happened beyond LinkedIn. These layers should be reported separately.</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LinkedIn notes that member post analytics are estimates and may include the author's own activity. A sound report states the source, extraction date, scope, and limitations. It never converts an estimated impression directly into revenue without an evidence bridge.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VISUAL FRAMEWORK</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LinkedIn Measurement Tree — Concept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Discovery</a:t>
            </a:r>
          </a:p>
          <a:p>
            <a:pPr algn="l">
              <a:spcAft>
                <a:spcPts val="300"/>
              </a:spcAft>
            </a:pPr>
            <a:r>
              <a:rPr sz="1200" b="0">
                <a:solidFill>
                  <a:srgbClr val="5B6372"/>
                </a:solidFill>
                <a:latin typeface="Arial"/>
              </a:rPr>
              <a:t>Impressions, members reached, in/out of network.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Engagement</a:t>
            </a:r>
          </a:p>
          <a:p>
            <a:pPr algn="l">
              <a:spcAft>
                <a:spcPts val="300"/>
              </a:spcAft>
            </a:pPr>
            <a:r>
              <a:rPr sz="1200" b="0">
                <a:solidFill>
                  <a:srgbClr val="5B6372"/>
                </a:solidFill>
                <a:latin typeface="Arial"/>
              </a:rPr>
              <a:t>Reactions, comments, reposts, saves, sends, link visits.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Profile action</a:t>
            </a:r>
          </a:p>
          <a:p>
            <a:pPr algn="l">
              <a:spcAft>
                <a:spcPts val="300"/>
              </a:spcAft>
            </a:pPr>
            <a:r>
              <a:rPr sz="1200" b="0">
                <a:solidFill>
                  <a:srgbClr val="5B6372"/>
                </a:solidFill>
                <a:latin typeface="Arial"/>
              </a:rPr>
              <a:t>Profile viewers and followers attributed to a post.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Business outcome</a:t>
            </a:r>
          </a:p>
          <a:p>
            <a:pPr algn="l">
              <a:spcAft>
                <a:spcPts val="300"/>
              </a:spcAft>
            </a:pPr>
            <a:r>
              <a:rPr sz="1200" b="0">
                <a:solidFill>
                  <a:srgbClr val="5B6372"/>
                </a:solidFill>
                <a:latin typeface="Arial"/>
              </a:rPr>
              <a:t>Qualified replies, meetings, opportunities, or another owned result.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Metric Formulas and Interpretation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 rate is a contract between a numerator and denominator. For a simple synthetic exercise, engagement rate may be defined as total selected interactions divided by impressions. Reply rate may be replies divided by messages sent. The definition must be recorded because tools and teams may include different interactions.</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Small denominators, short windows, outliers, and changed audience mix can create unstable rates. Report counts beside rates, compare like with like, and avoid declaring a winner from one post or one outreach batch.</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VISUAL FRAMEWORK</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Metric Formulas and Interpretation — Concept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Engagement rate</a:t>
            </a:r>
          </a:p>
          <a:p>
            <a:pPr algn="l">
              <a:spcAft>
                <a:spcPts val="300"/>
              </a:spcAft>
            </a:pPr>
            <a:r>
              <a:rPr sz="1200" b="0">
                <a:solidFill>
                  <a:srgbClr val="5B6372"/>
                </a:solidFill>
                <a:latin typeface="Arial"/>
              </a:rPr>
              <a:t>Selected interactions / impressions x 100.</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Profile-view rate</a:t>
            </a:r>
          </a:p>
          <a:p>
            <a:pPr algn="l">
              <a:spcAft>
                <a:spcPts val="300"/>
              </a:spcAft>
            </a:pPr>
            <a:r>
              <a:rPr sz="1200" b="0">
                <a:solidFill>
                  <a:srgbClr val="5B6372"/>
                </a:solidFill>
                <a:latin typeface="Arial"/>
              </a:rPr>
              <a:t>Profile viewers from post / impressions x 100.</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Reply rate</a:t>
            </a:r>
          </a:p>
          <a:p>
            <a:pPr algn="l">
              <a:spcAft>
                <a:spcPts val="300"/>
              </a:spcAft>
            </a:pPr>
            <a:r>
              <a:rPr sz="1200" b="0">
                <a:solidFill>
                  <a:srgbClr val="5B6372"/>
                </a:solidFill>
                <a:latin typeface="Arial"/>
              </a:rPr>
              <a:t>Replies / messages sent x 100.</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Outcome rate</a:t>
            </a:r>
          </a:p>
          <a:p>
            <a:pPr algn="l">
              <a:spcAft>
                <a:spcPts val="300"/>
              </a:spcAft>
            </a:pPr>
            <a:r>
              <a:rPr sz="1200" b="0">
                <a:solidFill>
                  <a:srgbClr val="5B6372"/>
                </a:solidFill>
                <a:latin typeface="Arial"/>
              </a:rPr>
              <a:t>Qualified outcomes / relevant opportunities x 100.</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Responsible Scaling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Scaling is a controlled learning loop, not more output. The team validates the data, diagnoses the likely bottleneck, chooses one change, predicts the effect, names a guardrail, obtains approval, observes for a defined window, and then holds, adapts, or rolls back.</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 bounded recommendation includes the owner, change limit, observation window, cooldown, stop threshold, and rollback. The agent recommends; it does not change publishing frequency, messaging activity, or account behaviour on its own.</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VISUAL FRAMEWORK</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Responsible Scaling Loop — Concept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Validate</a:t>
            </a:r>
          </a:p>
          <a:p>
            <a:pPr algn="l">
              <a:spcAft>
                <a:spcPts val="300"/>
              </a:spcAft>
            </a:pPr>
            <a:r>
              <a:rPr sz="1200" b="0">
                <a:solidFill>
                  <a:srgbClr val="5B6372"/>
                </a:solidFill>
                <a:latin typeface="Arial"/>
              </a:rPr>
              <a:t>Check completeness, definitions, and comparability.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Diagnose</a:t>
            </a:r>
          </a:p>
          <a:p>
            <a:pPr algn="l">
              <a:spcAft>
                <a:spcPts val="300"/>
              </a:spcAft>
            </a:pPr>
            <a:r>
              <a:rPr sz="1200" b="0">
                <a:solidFill>
                  <a:srgbClr val="5B6372"/>
                </a:solidFill>
                <a:latin typeface="Arial"/>
              </a:rPr>
              <a:t>Identify the most plausible constrained bottleneck.</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Propose</a:t>
            </a:r>
          </a:p>
          <a:p>
            <a:pPr algn="l">
              <a:spcAft>
                <a:spcPts val="300"/>
              </a:spcAft>
            </a:pPr>
            <a:r>
              <a:rPr sz="1200" b="0">
                <a:solidFill>
                  <a:srgbClr val="5B6372"/>
                </a:solidFill>
                <a:latin typeface="Arial"/>
              </a:rPr>
              <a:t>Change one variable with predicted effect and guardrail.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Observe</a:t>
            </a:r>
          </a:p>
          <a:p>
            <a:pPr algn="l">
              <a:spcAft>
                <a:spcPts val="300"/>
              </a:spcAft>
            </a:pPr>
            <a:r>
              <a:rPr sz="1200" b="0">
                <a:solidFill>
                  <a:srgbClr val="5B6372"/>
                </a:solidFill>
                <a:latin typeface="Arial"/>
              </a:rPr>
              <a:t>Human approves; record result, cooldown, and rollback.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Automating and Scaling LinkedIn with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Design the Governed Content and Engagement Operations Workflow</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Diagnose Performance and Propose One Bounded Scaling Experiment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Design the Governed Content and Engagement Operations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connect the earlier content calendar, prospect rules, and outreach drafts into one operations workflow. The agent prepares and checks internal artefacts; human owners retain profile identity, publishing, invitations, messages, relationship judgement, and incident correction.</a:t>
            </a:r>
          </a:p>
        </p:txBody>
      </p:sp>
      <p:sp>
        <p:nvSpPr>
          <p:cNvPr id="10" name="Rectangle 9"/>
          <p:cNvSpPr/>
          <p:nvPr/>
        </p:nvSpPr>
        <p:spPr>
          <a:xfrm>
            <a:off x="777240" y="3886200"/>
            <a:ext cx="10698480" cy="2057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41648"/>
            <a:ext cx="10058400" cy="274320"/>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325112"/>
            <a:ext cx="10058400" cy="804672"/>
          </a:xfrm>
          <a:prstGeom prst="rect">
            <a:avLst/>
          </a:prstGeom>
          <a:noFill/>
        </p:spPr>
        <p:txBody>
          <a:bodyPr wrap="square" anchor="t">
            <a:spAutoFit/>
          </a:bodyPr>
          <a:lstStyle/>
          <a:p>
            <a:pPr algn="l">
              <a:spcAft>
                <a:spcPts val="200"/>
              </a:spcAft>
            </a:pPr>
            <a:r>
              <a:rPr sz="1400" b="1">
                <a:solidFill>
                  <a:srgbClr val="161B26"/>
                </a:solidFill>
                <a:latin typeface="Arial"/>
              </a:rPr>
              <a:t>C386-linkedin-pack/07-governed-operations-workflow.md containing the workflow map, state machine, role and permission matrix, approval packets, engagement router, exception paths, trace schema, and simulation results.</a:t>
            </a:r>
          </a:p>
        </p:txBody>
      </p:sp>
      <p:sp>
        <p:nvSpPr>
          <p:cNvPr id="13" name="TextBox 12"/>
          <p:cNvSpPr txBox="1"/>
          <p:nvPr/>
        </p:nvSpPr>
        <p:spPr>
          <a:xfrm>
            <a:off x="1005840" y="5321808"/>
            <a:ext cx="10241280" cy="384048"/>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Approved AI assistant, text editor or diagram tool, Labs 1-6 outputs and supplied engagement scenarios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Design the Governed Content and Engagement Operations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2</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Separate internal preparation from external action with explicit states, role permissions, a complete review packet, and no path that bypasses human approval.</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INTAKE -&gt; DRAFT -&gt; CHECK -&gt; HUMAN REVIEW -&gt; HUMAN ACTION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Design the Governed Content and Engagement Operations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2</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Route engagement and operational exceptions to a safe state, preserve evidence, name the owner, and log every decision for learning and correction.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RESPOND / WAIT / REVISE / STOP / ESCALATE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Design the Governed Content and Engagement Operations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Open 07-governed-operations-workflow.md. Every main and exception state must have an entry rule, owner, allowed next states, and trace fields; no path may bypass human review. All six fixed simulations must finish in their stated expected safe state with a complete record and change-evidence row. READY FOR HUMAN ACTION must appear only after a named human decision; the request to auto-send must finish STOP without executing or simulating an external LinkedIn action.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Diagnose Performance and Propose One Bounded Scaling Experiment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analyse a supplied synthetic performance export without assuming that reach equals business value. You define each metric, check the data, compare like with like, identify the most plausible bottleneck, and recommend one controlled change that remains inside the governed workflow.</a:t>
            </a:r>
          </a:p>
        </p:txBody>
      </p:sp>
      <p:sp>
        <p:nvSpPr>
          <p:cNvPr id="10" name="Rectangle 9"/>
          <p:cNvSpPr/>
          <p:nvPr/>
        </p:nvSpPr>
        <p:spPr>
          <a:xfrm>
            <a:off x="777240" y="3886200"/>
            <a:ext cx="10698480" cy="2057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41648"/>
            <a:ext cx="10058400" cy="274320"/>
          </a:xfrm>
          <a:prstGeom prst="rect">
            <a:avLst/>
          </a:prstGeom>
          <a:noFill/>
        </p:spPr>
        <p:txBody>
          <a:bodyPr wrap="square" anchor="t">
            <a:spAutoFit/>
          </a:bodyPr>
          <a:lstStyle/>
          <a:p>
            <a:pPr algn="l">
              <a:spcAft>
                <a:spcPts val="400"/>
              </a:spcAft>
            </a:pPr>
            <a:r>
              <a:rPr sz="1300" b="1">
                <a:solidFill>
                  <a:srgbClr val="1F6FEB"/>
                </a:solidFill>
                <a:latin typeface="Arial"/>
              </a:rPr>
              <a:t>You'll build</a:t>
            </a:r>
          </a:p>
        </p:txBody>
      </p:sp>
      <p:sp>
        <p:nvSpPr>
          <p:cNvPr id="12" name="TextBox 11"/>
          <p:cNvSpPr txBox="1"/>
          <p:nvPr/>
        </p:nvSpPr>
        <p:spPr>
          <a:xfrm>
            <a:off x="1005840" y="4325112"/>
            <a:ext cx="10058400" cy="804672"/>
          </a:xfrm>
          <a:prstGeom prst="rect">
            <a:avLst/>
          </a:prstGeom>
          <a:noFill/>
        </p:spPr>
        <p:txBody>
          <a:bodyPr wrap="square" anchor="t">
            <a:spAutoFit/>
          </a:bodyPr>
          <a:lstStyle/>
          <a:p>
            <a:pPr algn="l">
              <a:spcAft>
                <a:spcPts val="200"/>
              </a:spcAft>
            </a:pPr>
            <a:r>
              <a:rPr sz="1400" b="1">
                <a:solidFill>
                  <a:srgbClr val="161B26"/>
                </a:solidFill>
                <a:latin typeface="Arial"/>
              </a:rPr>
              <a:t>C386-linkedin-pack/08-performance-diagnosis-and-improvement.md plus C386-linkedin-pack/08-cleaned-performance-metrics.csv containing definitions, quality log, calculations, funnel diagnosis, alternative explanations, experiment card, approval decision, cooldown, rollback, and course-pack manifest.</a:t>
            </a:r>
          </a:p>
        </p:txBody>
      </p:sp>
      <p:sp>
        <p:nvSpPr>
          <p:cNvPr id="13" name="TextBox 12"/>
          <p:cNvSpPr txBox="1"/>
          <p:nvPr/>
        </p:nvSpPr>
        <p:spPr>
          <a:xfrm>
            <a:off x="1005840" y="5321808"/>
            <a:ext cx="10241280" cy="384048"/>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Spreadsheet application, approved AI assistant, supplied synthetic performance CSV and Labs 1-7 outputs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Diagnose Performance and Propose One Bounded Scaling Experiment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2</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Define metrics, validate the synthetic export, calculate transparent counts and rates, and separate discovery, engagement, profile, conversation, and business outcomes.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DEFINE -&gt; VALIDATE -&gt; CALCULATE -&gt; INTERPRET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Diagnose Performance and Propose One Bounded Scaling Experiment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2</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Diagnose alternatives, then propose one controlled variable with an owner, guardrails, observation window, cooldown, stop threshold, and rollback.</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HYPOTHESIS -&gt; HUMAN DECISION -&gt; OBSERVE -&gt; HOLD / ADAPT / ROLLBACK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Diagnose Performance and Propose One Bounded Scaling Experiment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Open 08-performance-diagnosis-and-improvement.md and 08-cleaned-performance-metrics.csv. Verify R-001 engagement 3.83%, R-002 engagement 5.24%, and R-009 reply rate 33.33%; R-010 duplicate, R-011 impossible reach, and R-012 missing denominator must carry explicit dispositions, and blank or zero denominators must return N/A. The diagnosis must state alternatives and limitations, and the experiment must change exactly one variable with an owner, primary metric, two guardrails, observation window, cooldown, stop threshold, and rollback. The course-pack manifest must list outputs 01 through 08.</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Automating and Scaling LinkedIn with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LO5: Design a traceable draft-first workflow for content, comments, and follow-ups with explicit states, approvals, exceptions, and authorised external-action boundaries.</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LO6: Validate synthetic LinkedIn results, calculate defined metrics, diagnose the decision chain, and produce a human-reviewed improvement with guardrails and rollback.</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Agent Foundations</a:t>
            </a:r>
          </a:p>
          <a:p>
            <a:pPr algn="l">
              <a:spcAft>
                <a:spcPts val="300"/>
              </a:spcAft>
            </a:pPr>
            <a:r>
              <a:rPr sz="1300" b="0">
                <a:solidFill>
                  <a:srgbClr val="5B6372"/>
                </a:solidFill>
                <a:latin typeface="Arial"/>
              </a:rPr>
              <a:t>Explain how goal-driven AI agents support LinkedIn marketing and define safe tool, evidence, and human-approval boundaries.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Profile &amp; Prompts</a:t>
            </a:r>
          </a:p>
          <a:p>
            <a:pPr algn="l">
              <a:spcAft>
                <a:spcPts val="300"/>
              </a:spcAft>
            </a:pPr>
            <a:r>
              <a:rPr sz="1300" b="0">
                <a:solidFill>
                  <a:srgbClr val="5B6372"/>
                </a:solidFill>
                <a:latin typeface="Arial"/>
              </a:rPr>
              <a:t>Optimise a LinkedIn profile and write reusable prompts that preserve an authentic professional voice.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Content System</a:t>
            </a:r>
          </a:p>
          <a:p>
            <a:pPr algn="l">
              <a:spcAft>
                <a:spcPts val="300"/>
              </a:spcAft>
            </a:pPr>
            <a:r>
              <a:rPr sz="1300" b="0">
                <a:solidFill>
                  <a:srgbClr val="5B6372"/>
                </a:solidFill>
                <a:latin typeface="Arial"/>
              </a:rPr>
              <a:t>Create evidence-grounded LinkedIn posts, articles, visual briefs, carousels, and a coherent content calendar.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Prospecting</a:t>
            </a:r>
          </a:p>
          <a:p>
            <a:pPr algn="l">
              <a:spcAft>
                <a:spcPts val="300"/>
              </a:spcAft>
            </a:pPr>
            <a:r>
              <a:rPr sz="1300" b="0">
                <a:solidFill>
                  <a:srgbClr val="5B6372"/>
                </a:solidFill>
                <a:latin typeface="Arial"/>
              </a:rPr>
              <a:t>Research and segment prospects from authorised information, then draft relevant connection and nurture messages for human review.</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Governed Workflow</a:t>
            </a:r>
          </a:p>
          <a:p>
            <a:pPr algn="l">
              <a:spcAft>
                <a:spcPts val="300"/>
              </a:spcAft>
            </a:pPr>
            <a:r>
              <a:rPr sz="1300" b="0">
                <a:solidFill>
                  <a:srgbClr val="5B6372"/>
                </a:solidFill>
                <a:latin typeface="Arial"/>
              </a:rPr>
              <a:t>Design a draft-first content, engagement, and follow-up workflow that respects LinkedIn rules and professional etiquette.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Measure &amp; Improve</a:t>
            </a:r>
          </a:p>
          <a:p>
            <a:pPr algn="l">
              <a:spcAft>
                <a:spcPts val="300"/>
              </a:spcAft>
            </a:pPr>
            <a:r>
              <a:rPr sz="1300" b="0">
                <a:solidFill>
                  <a:srgbClr val="5B6372"/>
                </a:solidFill>
                <a:latin typeface="Arial"/>
              </a:rPr>
              <a:t>Define LinkedIn performance metrics, diagnose synthetic results, and recommend one bounded improvement with a traceable decision record.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Continue Responsibly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Keep the agent recommendation-only until evidence quality and review consistency are demonstrated.</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Verify current LinkedIn help and terms before any operational change.</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Measure the complete decision chain, not just impressions or activity volume.</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Use small controlled changes with an owner, guardrail, observation window, and rollback.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C386 | KEEP THE HUMAN ACCOUNTABLE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design a useful, evidence-grounded LinkedIn marketing workflow in which AI accelerates preparation and people retain responsibility for identity, relationships, and external action.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Linkedin Marketing (C386)  ·  C386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